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sldIdLst>
    <p:sldId id="256" r:id="rId3"/>
    <p:sldId id="261" r:id="rId5"/>
    <p:sldId id="398" r:id="rId6"/>
    <p:sldId id="399" r:id="rId7"/>
    <p:sldId id="400" r:id="rId8"/>
    <p:sldId id="401" r:id="rId9"/>
    <p:sldId id="402" r:id="rId10"/>
    <p:sldId id="403" r:id="rId11"/>
    <p:sldId id="404" r:id="rId12"/>
    <p:sldId id="351" r:id="rId13"/>
    <p:sldId id="359" r:id="rId14"/>
    <p:sldId id="267" r:id="rId15"/>
    <p:sldId id="274" r:id="rId16"/>
    <p:sldId id="376" r:id="rId17"/>
    <p:sldId id="362" r:id="rId18"/>
    <p:sldId id="355" r:id="rId19"/>
    <p:sldId id="395" r:id="rId20"/>
    <p:sldId id="396" r:id="rId21"/>
    <p:sldId id="356" r:id="rId22"/>
    <p:sldId id="358" r:id="rId23"/>
    <p:sldId id="277" r:id="rId24"/>
    <p:sldId id="278" r:id="rId25"/>
    <p:sldId id="259" r:id="rId26"/>
    <p:sldId id="346" r:id="rId27"/>
    <p:sldId id="347" r:id="rId28"/>
    <p:sldId id="390" r:id="rId29"/>
    <p:sldId id="392" r:id="rId30"/>
    <p:sldId id="391" r:id="rId31"/>
    <p:sldId id="260" r:id="rId32"/>
    <p:sldId id="389" r:id="rId3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8" autoAdjust="0"/>
    <p:restoredTop sz="94674" autoAdjust="0"/>
  </p:normalViewPr>
  <p:slideViewPr>
    <p:cSldViewPr showGuides="1">
      <p:cViewPr varScale="1">
        <p:scale>
          <a:sx n="79" d="100"/>
          <a:sy n="79" d="100"/>
        </p:scale>
        <p:origin x="108" y="8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8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32.wmf"/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png"/></Relationships>
</file>

<file path=ppt/drawings/_rels/vmlDrawing4.vml.rels><?xml version="1.0" encoding="UTF-8" standalone="yes"?>
<Relationships xmlns="http://schemas.openxmlformats.org/package/2006/relationships"><Relationship Id="rId6" Type="http://schemas.openxmlformats.org/officeDocument/2006/relationships/image" Target="../media/image56.png"/><Relationship Id="rId5" Type="http://schemas.openxmlformats.org/officeDocument/2006/relationships/image" Target="../media/image55.wmf"/><Relationship Id="rId4" Type="http://schemas.openxmlformats.org/officeDocument/2006/relationships/image" Target="../media/image54.wmf"/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png"/></Relationships>
</file>

<file path=ppt/drawings/_rels/vmlDrawing5.vml.rels><?xml version="1.0" encoding="UTF-8" standalone="yes"?>
<Relationships xmlns="http://schemas.openxmlformats.org/package/2006/relationships"><Relationship Id="rId7" Type="http://schemas.openxmlformats.org/officeDocument/2006/relationships/image" Target="../media/image64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74.emf"/><Relationship Id="rId8" Type="http://schemas.openxmlformats.org/officeDocument/2006/relationships/image" Target="../media/image73.emf"/><Relationship Id="rId7" Type="http://schemas.openxmlformats.org/officeDocument/2006/relationships/image" Target="../media/image72.emf"/><Relationship Id="rId6" Type="http://schemas.openxmlformats.org/officeDocument/2006/relationships/image" Target="../media/image71.emf"/><Relationship Id="rId5" Type="http://schemas.openxmlformats.org/officeDocument/2006/relationships/image" Target="../media/image70.wmf"/><Relationship Id="rId4" Type="http://schemas.openxmlformats.org/officeDocument/2006/relationships/image" Target="../media/image69.wmf"/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2" Type="http://schemas.openxmlformats.org/officeDocument/2006/relationships/image" Target="../media/image77.wmf"/><Relationship Id="rId11" Type="http://schemas.openxmlformats.org/officeDocument/2006/relationships/image" Target="../media/image76.wmf"/><Relationship Id="rId10" Type="http://schemas.openxmlformats.org/officeDocument/2006/relationships/image" Target="../media/image75.wmf"/><Relationship Id="rId1" Type="http://schemas.openxmlformats.org/officeDocument/2006/relationships/image" Target="../media/image66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86.wmf"/><Relationship Id="rId8" Type="http://schemas.openxmlformats.org/officeDocument/2006/relationships/image" Target="../media/image85.wmf"/><Relationship Id="rId7" Type="http://schemas.openxmlformats.org/officeDocument/2006/relationships/image" Target="../media/image84.wmf"/><Relationship Id="rId6" Type="http://schemas.openxmlformats.org/officeDocument/2006/relationships/image" Target="../media/image83.wmf"/><Relationship Id="rId5" Type="http://schemas.openxmlformats.org/officeDocument/2006/relationships/image" Target="../media/image82.wmf"/><Relationship Id="rId4" Type="http://schemas.openxmlformats.org/officeDocument/2006/relationships/image" Target="../media/image81.wmf"/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34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34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4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B36E0ED-8411-174F-B1E9-09B4E2785874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A184D09-B183-1143-B8B4-924B0CD449A9}" type="slidenum">
              <a:rPr lang="zh-CN" altLang="en-US" sz="1200" smtClean="0"/>
            </a:fld>
            <a:endParaRPr lang="en-US" altLang="zh-CN" sz="1200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DD4CA33-2F69-7E48-AEFC-33916640C18D}" type="slidenum">
              <a:rPr lang="zh-CN" altLang="en-US" sz="1200" smtClean="0"/>
            </a:fld>
            <a:endParaRPr lang="en-US" altLang="zh-CN" sz="12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DD4CA33-2F69-7E48-AEFC-33916640C18D}" type="slidenum">
              <a:rPr lang="zh-CN" altLang="en-US" sz="1200" smtClean="0"/>
            </a:fld>
            <a:endParaRPr lang="en-US" altLang="zh-CN" sz="12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DD4CA33-2F69-7E48-AEFC-33916640C18D}" type="slidenum">
              <a:rPr lang="zh-CN" altLang="en-US" sz="1200" smtClean="0"/>
            </a:fld>
            <a:endParaRPr lang="en-US" altLang="zh-CN" sz="12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62B1365-7870-AB40-BB74-8B282F704647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FF4AA72-3D7F-8D4D-B995-0D316353CB25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DD4CA33-2F69-7E48-AEFC-33916640C18D}" type="slidenum">
              <a:rPr lang="zh-CN" altLang="en-US" sz="1200" smtClean="0"/>
            </a:fld>
            <a:endParaRPr lang="en-US" altLang="zh-CN" sz="12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DD4CA33-2F69-7E48-AEFC-33916640C18D}" type="slidenum">
              <a:rPr lang="zh-CN" altLang="en-US" sz="1200" smtClean="0"/>
            </a:fld>
            <a:endParaRPr lang="en-US" altLang="zh-CN" sz="12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A90F496-E50C-EB49-A8E0-80D773021A45}" type="slidenum">
              <a:rPr lang="zh-CN" altLang="en-US" sz="1200" smtClean="0"/>
            </a:fld>
            <a:endParaRPr lang="en-US" altLang="zh-CN" sz="120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432EDA9-A8A6-F64D-BD8C-C75092F49A3E}" type="slidenum">
              <a:rPr lang="zh-CN" altLang="en-US" sz="1200" smtClean="0"/>
            </a:fld>
            <a:endParaRPr lang="en-US" altLang="zh-CN" sz="120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D4CA33-2F69-7E48-AEFC-33916640C18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D4CA33-2F69-7E48-AEFC-33916640C18D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 algn="r">
              <a:defRPr sz="2000"/>
            </a:lvl1pPr>
          </a:lstStyle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内容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 Box 8"/>
          <p:cNvSpPr txBox="1">
            <a:spLocks noChangeArrowheads="1"/>
          </p:cNvSpPr>
          <p:nvPr userDrawn="1"/>
        </p:nvSpPr>
        <p:spPr bwMode="auto">
          <a:xfrm>
            <a:off x="3946525" y="6453188"/>
            <a:ext cx="950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000" b="1">
                <a:solidFill>
                  <a:srgbClr val="FFFF00"/>
                </a:solidFill>
                <a:ea typeface="楷体_GB2312" pitchFamily="49" charset="-122"/>
              </a:rPr>
              <a:t>第四章</a:t>
            </a:r>
            <a:endParaRPr lang="zh-CN" altLang="en-US" sz="2000" b="1">
              <a:solidFill>
                <a:srgbClr val="FFFF00"/>
              </a:solidFill>
              <a:ea typeface="楷体_GB2312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wmf"/><Relationship Id="rId8" Type="http://schemas.openxmlformats.org/officeDocument/2006/relationships/oleObject" Target="../embeddings/oleObject1.bin"/><Relationship Id="rId7" Type="http://schemas.openxmlformats.org/officeDocument/2006/relationships/image" Target="../media/image9.jpe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6" Type="http://schemas.openxmlformats.org/officeDocument/2006/relationships/notesSlide" Target="../notesSlides/notesSlide2.xml"/><Relationship Id="rId15" Type="http://schemas.openxmlformats.org/officeDocument/2006/relationships/vmlDrawing" Target="../drawings/vmlDrawing1.v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oleObject" Target="../embeddings/oleObject2.bin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.bin"/><Relationship Id="rId8" Type="http://schemas.openxmlformats.org/officeDocument/2006/relationships/image" Target="../media/image31.wmf"/><Relationship Id="rId7" Type="http://schemas.openxmlformats.org/officeDocument/2006/relationships/oleObject" Target="../embeddings/oleObject5.bin"/><Relationship Id="rId6" Type="http://schemas.openxmlformats.org/officeDocument/2006/relationships/image" Target="../media/image30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9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28.png"/><Relationship Id="rId14" Type="http://schemas.openxmlformats.org/officeDocument/2006/relationships/notesSlide" Target="../notesSlides/notesSlide6.xml"/><Relationship Id="rId13" Type="http://schemas.openxmlformats.org/officeDocument/2006/relationships/vmlDrawing" Target="../drawings/vmlDrawing2.v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33.png"/><Relationship Id="rId10" Type="http://schemas.openxmlformats.org/officeDocument/2006/relationships/image" Target="../media/image32.wmf"/><Relationship Id="rId1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jpe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1.png"/><Relationship Id="rId1" Type="http://schemas.openxmlformats.org/officeDocument/2006/relationships/oleObject" Target="../embeddings/oleObject7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.bin"/><Relationship Id="rId8" Type="http://schemas.openxmlformats.org/officeDocument/2006/relationships/image" Target="../media/image54.wmf"/><Relationship Id="rId7" Type="http://schemas.openxmlformats.org/officeDocument/2006/relationships/oleObject" Target="../embeddings/oleObject11.bin"/><Relationship Id="rId6" Type="http://schemas.openxmlformats.org/officeDocument/2006/relationships/image" Target="../media/image53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52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51.png"/><Relationship Id="rId15" Type="http://schemas.openxmlformats.org/officeDocument/2006/relationships/notesSlide" Target="../notesSlides/notesSlide10.xml"/><Relationship Id="rId14" Type="http://schemas.openxmlformats.org/officeDocument/2006/relationships/vmlDrawing" Target="../drawings/vmlDrawing4.v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56.png"/><Relationship Id="rId11" Type="http://schemas.openxmlformats.org/officeDocument/2006/relationships/oleObject" Target="../embeddings/oleObject13.bin"/><Relationship Id="rId10" Type="http://schemas.openxmlformats.org/officeDocument/2006/relationships/image" Target="../media/image55.wmf"/><Relationship Id="rId1" Type="http://schemas.openxmlformats.org/officeDocument/2006/relationships/oleObject" Target="../embeddings/oleObject8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wmf"/><Relationship Id="rId8" Type="http://schemas.openxmlformats.org/officeDocument/2006/relationships/oleObject" Target="../embeddings/oleObject17.bin"/><Relationship Id="rId7" Type="http://schemas.openxmlformats.org/officeDocument/2006/relationships/image" Target="../media/image60.wmf"/><Relationship Id="rId6" Type="http://schemas.openxmlformats.org/officeDocument/2006/relationships/oleObject" Target="../embeddings/oleObject16.bin"/><Relationship Id="rId5" Type="http://schemas.openxmlformats.org/officeDocument/2006/relationships/image" Target="../media/image59.wmf"/><Relationship Id="rId4" Type="http://schemas.openxmlformats.org/officeDocument/2006/relationships/oleObject" Target="../embeddings/oleObject15.bin"/><Relationship Id="rId3" Type="http://schemas.openxmlformats.org/officeDocument/2006/relationships/image" Target="../media/image58.wmf"/><Relationship Id="rId2" Type="http://schemas.openxmlformats.org/officeDocument/2006/relationships/oleObject" Target="../embeddings/oleObject14.bin"/><Relationship Id="rId18" Type="http://schemas.openxmlformats.org/officeDocument/2006/relationships/vmlDrawing" Target="../drawings/vmlDrawing5.v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65.jpeg"/><Relationship Id="rId15" Type="http://schemas.openxmlformats.org/officeDocument/2006/relationships/image" Target="../media/image64.wmf"/><Relationship Id="rId14" Type="http://schemas.openxmlformats.org/officeDocument/2006/relationships/oleObject" Target="../embeddings/oleObject20.bin"/><Relationship Id="rId13" Type="http://schemas.openxmlformats.org/officeDocument/2006/relationships/image" Target="../media/image63.wmf"/><Relationship Id="rId12" Type="http://schemas.openxmlformats.org/officeDocument/2006/relationships/oleObject" Target="../embeddings/oleObject19.bin"/><Relationship Id="rId11" Type="http://schemas.openxmlformats.org/officeDocument/2006/relationships/image" Target="../media/image62.wmf"/><Relationship Id="rId10" Type="http://schemas.openxmlformats.org/officeDocument/2006/relationships/oleObject" Target="../embeddings/oleObject18.bin"/><Relationship Id="rId1" Type="http://schemas.openxmlformats.org/officeDocument/2006/relationships/image" Target="../media/image57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.bin"/><Relationship Id="rId8" Type="http://schemas.openxmlformats.org/officeDocument/2006/relationships/image" Target="../media/image69.wmf"/><Relationship Id="rId7" Type="http://schemas.openxmlformats.org/officeDocument/2006/relationships/oleObject" Target="../embeddings/oleObject24.bin"/><Relationship Id="rId6" Type="http://schemas.openxmlformats.org/officeDocument/2006/relationships/image" Target="../media/image68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67.wmf"/><Relationship Id="rId30" Type="http://schemas.openxmlformats.org/officeDocument/2006/relationships/vmlDrawing" Target="../drawings/vmlDrawing6.vml"/><Relationship Id="rId3" Type="http://schemas.openxmlformats.org/officeDocument/2006/relationships/oleObject" Target="../embeddings/oleObject22.bin"/><Relationship Id="rId29" Type="http://schemas.openxmlformats.org/officeDocument/2006/relationships/slideLayout" Target="../slideLayouts/slideLayout1.xml"/><Relationship Id="rId28" Type="http://schemas.openxmlformats.org/officeDocument/2006/relationships/audio" Target="../media/audio1.wav"/><Relationship Id="rId27" Type="http://schemas.openxmlformats.org/officeDocument/2006/relationships/image" Target="../media/image77.wmf"/><Relationship Id="rId26" Type="http://schemas.openxmlformats.org/officeDocument/2006/relationships/oleObject" Target="../embeddings/oleObject35.bin"/><Relationship Id="rId25" Type="http://schemas.openxmlformats.org/officeDocument/2006/relationships/image" Target="../media/image76.wmf"/><Relationship Id="rId24" Type="http://schemas.openxmlformats.org/officeDocument/2006/relationships/oleObject" Target="../embeddings/oleObject34.bin"/><Relationship Id="rId23" Type="http://schemas.openxmlformats.org/officeDocument/2006/relationships/image" Target="../media/image75.wmf"/><Relationship Id="rId22" Type="http://schemas.openxmlformats.org/officeDocument/2006/relationships/oleObject" Target="../embeddings/oleObject33.bin"/><Relationship Id="rId21" Type="http://schemas.openxmlformats.org/officeDocument/2006/relationships/oleObject" Target="../embeddings/oleObject32.bin"/><Relationship Id="rId20" Type="http://schemas.openxmlformats.org/officeDocument/2006/relationships/oleObject" Target="../embeddings/oleObject31.bin"/><Relationship Id="rId2" Type="http://schemas.openxmlformats.org/officeDocument/2006/relationships/image" Target="../media/image66.wmf"/><Relationship Id="rId19" Type="http://schemas.openxmlformats.org/officeDocument/2006/relationships/image" Target="../media/image74.emf"/><Relationship Id="rId18" Type="http://schemas.openxmlformats.org/officeDocument/2006/relationships/oleObject" Target="../embeddings/oleObject30.bin"/><Relationship Id="rId17" Type="http://schemas.openxmlformats.org/officeDocument/2006/relationships/image" Target="../media/image73.emf"/><Relationship Id="rId16" Type="http://schemas.openxmlformats.org/officeDocument/2006/relationships/oleObject" Target="../embeddings/oleObject29.bin"/><Relationship Id="rId15" Type="http://schemas.openxmlformats.org/officeDocument/2006/relationships/oleObject" Target="../embeddings/oleObject28.bin"/><Relationship Id="rId14" Type="http://schemas.openxmlformats.org/officeDocument/2006/relationships/image" Target="../media/image72.emf"/><Relationship Id="rId13" Type="http://schemas.openxmlformats.org/officeDocument/2006/relationships/oleObject" Target="../embeddings/oleObject27.bin"/><Relationship Id="rId12" Type="http://schemas.openxmlformats.org/officeDocument/2006/relationships/image" Target="../media/image71.emf"/><Relationship Id="rId11" Type="http://schemas.openxmlformats.org/officeDocument/2006/relationships/oleObject" Target="../embeddings/oleObject26.bin"/><Relationship Id="rId10" Type="http://schemas.openxmlformats.org/officeDocument/2006/relationships/image" Target="../media/image70.wmf"/><Relationship Id="rId1" Type="http://schemas.openxmlformats.org/officeDocument/2006/relationships/oleObject" Target="../embeddings/oleObject21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0.bin"/><Relationship Id="rId8" Type="http://schemas.openxmlformats.org/officeDocument/2006/relationships/image" Target="../media/image81.wmf"/><Relationship Id="rId7" Type="http://schemas.openxmlformats.org/officeDocument/2006/relationships/oleObject" Target="../embeddings/oleObject39.bin"/><Relationship Id="rId6" Type="http://schemas.openxmlformats.org/officeDocument/2006/relationships/image" Target="../media/image80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79.wmf"/><Relationship Id="rId3" Type="http://schemas.openxmlformats.org/officeDocument/2006/relationships/oleObject" Target="../embeddings/oleObject37.bin"/><Relationship Id="rId20" Type="http://schemas.openxmlformats.org/officeDocument/2006/relationships/vmlDrawing" Target="../drawings/vmlDrawing7.vml"/><Relationship Id="rId2" Type="http://schemas.openxmlformats.org/officeDocument/2006/relationships/image" Target="../media/image78.wmf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86.wmf"/><Relationship Id="rId17" Type="http://schemas.openxmlformats.org/officeDocument/2006/relationships/oleObject" Target="../embeddings/oleObject44.bin"/><Relationship Id="rId16" Type="http://schemas.openxmlformats.org/officeDocument/2006/relationships/image" Target="../media/image85.wmf"/><Relationship Id="rId15" Type="http://schemas.openxmlformats.org/officeDocument/2006/relationships/oleObject" Target="../embeddings/oleObject43.bin"/><Relationship Id="rId14" Type="http://schemas.openxmlformats.org/officeDocument/2006/relationships/image" Target="../media/image84.wmf"/><Relationship Id="rId13" Type="http://schemas.openxmlformats.org/officeDocument/2006/relationships/oleObject" Target="../embeddings/oleObject42.bin"/><Relationship Id="rId12" Type="http://schemas.openxmlformats.org/officeDocument/2006/relationships/image" Target="../media/image83.wmf"/><Relationship Id="rId11" Type="http://schemas.openxmlformats.org/officeDocument/2006/relationships/oleObject" Target="../embeddings/oleObject41.bin"/><Relationship Id="rId10" Type="http://schemas.openxmlformats.org/officeDocument/2006/relationships/image" Target="../media/image82.wmf"/><Relationship Id="rId1" Type="http://schemas.openxmlformats.org/officeDocument/2006/relationships/oleObject" Target="../embeddings/oleObject36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5.png"/><Relationship Id="rId8" Type="http://schemas.openxmlformats.org/officeDocument/2006/relationships/image" Target="../media/image94.png"/><Relationship Id="rId7" Type="http://schemas.openxmlformats.org/officeDocument/2006/relationships/image" Target="../media/image93.png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97.png"/><Relationship Id="rId10" Type="http://schemas.openxmlformats.org/officeDocument/2006/relationships/image" Target="../media/image96.png"/><Relationship Id="rId1" Type="http://schemas.openxmlformats.org/officeDocument/2006/relationships/image" Target="../media/image87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8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9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3"/>
          <p:cNvSpPr txBox="1">
            <a:spLocks noChangeArrowheads="1"/>
          </p:cNvSpPr>
          <p:nvPr/>
        </p:nvSpPr>
        <p:spPr bwMode="auto">
          <a:xfrm>
            <a:off x="2600561" y="476672"/>
            <a:ext cx="3555615" cy="52322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 dirty="0">
                <a:solidFill>
                  <a:srgbClr val="FF0000"/>
                </a:solidFill>
                <a:ea typeface="黑体" panose="02010609060101010101" pitchFamily="49" charset="-122"/>
              </a:rPr>
              <a:t>第四章  转动参考系</a:t>
            </a:r>
            <a:endParaRPr lang="zh-CN" altLang="en-US" sz="28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555625" y="1812925"/>
                <a:ext cx="7353295" cy="2175660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non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457200" indent="-457200" eaLnBrk="1" hangingPunct="1">
                  <a:lnSpc>
                    <a:spcPct val="125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800" dirty="0">
                    <a:solidFill>
                      <a:srgbClr val="0000FF"/>
                    </a:solidFill>
                    <a:latin typeface="+mj-lt"/>
                    <a:ea typeface="黑体" panose="02010609060101010101" pitchFamily="49" charset="-122"/>
                  </a:rPr>
                  <a:t>转动参考系变换 </a:t>
                </a:r>
                <a:r>
                  <a:rPr lang="en-US" altLang="zh-CN" sz="2800" dirty="0">
                    <a:solidFill>
                      <a:srgbClr val="0000FF"/>
                    </a:solidFill>
                    <a:latin typeface="+mj-lt"/>
                    <a:ea typeface="黑体" panose="02010609060101010101" pitchFamily="49" charset="-122"/>
                  </a:rPr>
                  <a:t>(§4.1-4.2)</a:t>
                </a:r>
                <a:endParaRPr lang="en-US" altLang="zh-CN" sz="2800" dirty="0">
                  <a:solidFill>
                    <a:srgbClr val="0000FF"/>
                  </a:solidFill>
                  <a:latin typeface="+mj-lt"/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125000"/>
                  </a:lnSpc>
                </a:pPr>
                <a:r>
                  <a:rPr lang="zh-CN" altLang="en-US" dirty="0">
                    <a:latin typeface="+mj-lt"/>
                    <a:ea typeface="黑体" panose="02010609060101010101" pitchFamily="49" charset="-122"/>
                  </a:rPr>
                  <a:t> 转动参考系速度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𝑣</m:t>
                        </m:r>
                      </m:e>
                    </m:acc>
                  </m:oMath>
                </a14:m>
                <a:r>
                  <a:rPr lang="zh-CN" altLang="en-US" dirty="0">
                    <a:latin typeface="+mj-lt"/>
                    <a:ea typeface="黑体" panose="02010609060101010101" pitchFamily="49" charset="-122"/>
                  </a:rPr>
                  <a:t>和加速度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</m:t>
                        </m:r>
                      </m:e>
                    </m:acc>
                  </m:oMath>
                </a14:m>
                <a:r>
                  <a:rPr lang="zh-CN" altLang="en-US" dirty="0">
                    <a:latin typeface="+mj-lt"/>
                    <a:ea typeface="黑体" panose="02010609060101010101" pitchFamily="49" charset="-122"/>
                  </a:rPr>
                  <a:t>变换公式</a:t>
                </a:r>
                <a:endParaRPr lang="en-US" altLang="zh-CN" dirty="0">
                  <a:latin typeface="+mj-lt"/>
                  <a:ea typeface="黑体" panose="02010609060101010101" pitchFamily="49" charset="-122"/>
                </a:endParaRPr>
              </a:p>
              <a:p>
                <a:pPr marL="457200" indent="-457200" eaLnBrk="1" hangingPunct="1">
                  <a:lnSpc>
                    <a:spcPct val="125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800" dirty="0">
                    <a:solidFill>
                      <a:srgbClr val="0000FF"/>
                    </a:solidFill>
                    <a:latin typeface="+mj-lt"/>
                    <a:ea typeface="黑体" panose="02010609060101010101" pitchFamily="49" charset="-122"/>
                  </a:rPr>
                  <a:t>非惯性系动力学及其应用</a:t>
                </a:r>
                <a:r>
                  <a:rPr lang="en-US" altLang="zh-CN" sz="2800" dirty="0">
                    <a:solidFill>
                      <a:srgbClr val="0000FF"/>
                    </a:solidFill>
                    <a:latin typeface="+mj-lt"/>
                    <a:ea typeface="黑体" panose="02010609060101010101" pitchFamily="49" charset="-122"/>
                  </a:rPr>
                  <a:t>(§4.3-4.5)</a:t>
                </a:r>
                <a:endParaRPr lang="en-US" altLang="zh-CN" sz="2800" dirty="0">
                  <a:solidFill>
                    <a:srgbClr val="0000FF"/>
                  </a:solidFill>
                  <a:latin typeface="+mj-lt"/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125000"/>
                  </a:lnSpc>
                </a:pPr>
                <a:r>
                  <a:rPr lang="en-US" altLang="zh-CN" sz="2800" dirty="0">
                    <a:latin typeface="+mj-lt"/>
                    <a:ea typeface="黑体" panose="02010609060101010101" pitchFamily="49" charset="-122"/>
                  </a:rPr>
                  <a:t> </a:t>
                </a:r>
                <a:r>
                  <a:rPr lang="zh-CN" altLang="en-US" dirty="0">
                    <a:latin typeface="+mj-lt"/>
                    <a:ea typeface="黑体" panose="02010609060101010101" pitchFamily="49" charset="-122"/>
                  </a:rPr>
                  <a:t>转动参考系中牛顿运动定律，地球自转影响，傅科摆</a:t>
                </a:r>
                <a:endParaRPr lang="zh-CN" altLang="en-US" dirty="0">
                  <a:latin typeface="+mj-lt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625" y="1812925"/>
                <a:ext cx="7353295" cy="2175660"/>
              </a:xfrm>
              <a:prstGeom prst="rect">
                <a:avLst/>
              </a:prstGeom>
              <a:blipFill rotWithShape="1">
                <a:blip r:embed="rId1"/>
                <a:stretch>
                  <a:fillRect r="9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3"/>
          <p:cNvSpPr txBox="1">
            <a:spLocks noChangeArrowheads="1"/>
          </p:cNvSpPr>
          <p:nvPr/>
        </p:nvSpPr>
        <p:spPr bwMode="auto">
          <a:xfrm>
            <a:off x="2717662" y="119405"/>
            <a:ext cx="3708675" cy="461665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accent2"/>
                </a:solidFill>
                <a:ea typeface="黑体" panose="02010609060101010101" pitchFamily="49" charset="-122"/>
              </a:rPr>
              <a:t>§</a:t>
            </a:r>
            <a:r>
              <a:rPr lang="en-US" altLang="zh-CN" b="1" dirty="0">
                <a:solidFill>
                  <a:schemeClr val="accent2"/>
                </a:solidFill>
                <a:ea typeface="黑体" panose="02010609060101010101" pitchFamily="49" charset="-122"/>
              </a:rPr>
              <a:t>4.</a:t>
            </a:r>
            <a:r>
              <a:rPr lang="zh-CN" altLang="en-US" b="1" dirty="0">
                <a:solidFill>
                  <a:schemeClr val="accent2"/>
                </a:solidFill>
                <a:ea typeface="黑体" panose="02010609060101010101" pitchFamily="49" charset="-122"/>
              </a:rPr>
              <a:t>1</a:t>
            </a:r>
            <a:r>
              <a:rPr lang="en-US" altLang="zh-CN" b="1" dirty="0">
                <a:solidFill>
                  <a:schemeClr val="accent2"/>
                </a:solidFill>
                <a:ea typeface="黑体" panose="02010609060101010101" pitchFamily="49" charset="-122"/>
              </a:rPr>
              <a:t>/4.2</a:t>
            </a:r>
            <a:r>
              <a:rPr lang="zh-CN" altLang="en-US" b="1" dirty="0">
                <a:solidFill>
                  <a:schemeClr val="accent2"/>
                </a:solidFill>
                <a:ea typeface="黑体" panose="02010609060101010101" pitchFamily="49" charset="-122"/>
              </a:rPr>
              <a:t>  转动参考系变换</a:t>
            </a:r>
            <a:endParaRPr lang="zh-CN" altLang="en-US" b="1" dirty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68" name="Rectangle 28"/>
              <p:cNvSpPr>
                <a:spLocks noChangeArrowheads="1"/>
              </p:cNvSpPr>
              <p:nvPr/>
            </p:nvSpPr>
            <p:spPr bwMode="auto">
              <a:xfrm>
                <a:off x="94784" y="1320728"/>
                <a:ext cx="8998173" cy="127175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6708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8618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528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:r>
                  <a:rPr lang="zh-CN" altLang="en-US" dirty="0">
                    <a:ea typeface="黑体" panose="02010609060101010101" pitchFamily="49" charset="-122"/>
                  </a:rPr>
                  <a:t>刚体绕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𝑂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作</m:t>
                    </m:r>
                  </m:oMath>
                </a14:m>
                <a:r>
                  <a:rPr lang="zh-CN" altLang="en-US" dirty="0">
                    <a:ea typeface="黑体" panose="02010609060101010101" pitchFamily="49" charset="-122"/>
                  </a:rPr>
                  <a:t>定点运动，</a:t>
                </a:r>
                <a:r>
                  <a:rPr lang="zh-CN" altLang="en-US" b="1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空间坐标系</a:t>
                </a:r>
                <a:r>
                  <a:rPr lang="zh-CN" altLang="en-US" dirty="0"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𝜉𝜂𝜁</m:t>
                    </m:r>
                  </m:oMath>
                </a14:m>
                <a:r>
                  <a:rPr lang="zh-CN" altLang="en-US" dirty="0">
                    <a:ea typeface="黑体" panose="02010609060101010101" pitchFamily="49" charset="-122"/>
                  </a:rPr>
                  <a:t>，固定在刚体上的</a:t>
                </a:r>
                <a:r>
                  <a:rPr lang="zh-CN" altLang="en-US" b="1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本体坐标系</a:t>
                </a:r>
                <a:r>
                  <a:rPr lang="zh-CN" altLang="en-US" dirty="0">
                    <a:ea typeface="黑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𝑥𝑦𝑧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.</m:t>
                    </m:r>
                  </m:oMath>
                </a14:m>
                <a:r>
                  <a:rPr lang="zh-CN" altLang="en-US" dirty="0">
                    <a:ea typeface="黑体" panose="02010609060101010101" pitchFamily="49" charset="-122"/>
                  </a:rPr>
                  <a:t>   </a:t>
                </a:r>
                <a:r>
                  <a:rPr lang="zh-CN" altLang="en-US" dirty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本体系中</a:t>
                </a:r>
                <a:r>
                  <a:rPr lang="zh-CN" altLang="en-US" dirty="0">
                    <a:ea typeface="黑体" panose="02010609060101010101" pitchFamily="49" charset="-122"/>
                  </a:rPr>
                  <a:t>矢量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𝐺</m:t>
                        </m:r>
                      </m:e>
                    </m:acc>
                    <m:r>
                      <a:rPr lang="en-US" altLang="zh-CN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𝐺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𝑖</m:t>
                        </m:r>
                      </m:e>
                    </m:acc>
                    <m:r>
                      <a:rPr lang="en-US" altLang="zh-CN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𝐺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altLang="zh-CN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𝑗</m:t>
                        </m:r>
                      </m:e>
                    </m:acc>
                    <m:r>
                      <a:rPr lang="en-US" altLang="zh-CN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𝐺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𝑧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altLang="zh-CN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𝑘</m:t>
                        </m:r>
                      </m:e>
                    </m:acc>
                  </m:oMath>
                </a14:m>
                <a:endParaRPr lang="en-US" altLang="zh-CN" dirty="0"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0268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784" y="1320728"/>
                <a:ext cx="8998173" cy="1271758"/>
              </a:xfrm>
              <a:prstGeom prst="rect">
                <a:avLst/>
              </a:prstGeom>
              <a:blipFill rotWithShape="1">
                <a:blip r:embed="rId1"/>
                <a:stretch>
                  <a:fillRect l="-2" t="-44" r="4" b="-23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矩形 26"/>
              <p:cNvSpPr/>
              <p:nvPr/>
            </p:nvSpPr>
            <p:spPr>
              <a:xfrm>
                <a:off x="138630" y="2760571"/>
                <a:ext cx="6136122" cy="33710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:r>
                  <a:rPr lang="zh-CN" altLang="en-US" dirty="0">
                    <a:ea typeface="黑体" panose="02010609060101010101" pitchFamily="49" charset="-122"/>
                  </a:rPr>
                  <a:t>本体坐标系随刚体以角速度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𝜔</m:t>
                        </m:r>
                      </m:e>
                    </m:acc>
                  </m:oMath>
                </a14:m>
                <a:r>
                  <a:rPr lang="zh-CN" altLang="en-US" dirty="0">
                    <a:ea typeface="黑体" panose="02010609060101010101" pitchFamily="49" charset="-122"/>
                  </a:rPr>
                  <a:t> 转动，故有</a:t>
                </a:r>
                <a:endParaRPr lang="en-US" altLang="zh-CN" dirty="0">
                  <a:ea typeface="黑体" panose="02010609060101010101" pitchFamily="49" charset="-122"/>
                </a:endParaRPr>
              </a:p>
              <a:p>
                <a:pPr algn="just" eaLnBrk="1" hangingPunct="1">
                  <a:lnSpc>
                    <a:spcPct val="11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𝐺</m:t>
                              </m:r>
                            </m:e>
                          </m:acc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∗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𝐺</m:t>
                              </m:r>
                            </m:e>
                          </m:acc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𝐺</m:t>
                          </m:r>
                        </m:e>
                      </m:acc>
                    </m:oMath>
                  </m:oMathPara>
                </a14:m>
                <a:endParaRPr lang="en-US" altLang="zh-CN" dirty="0">
                  <a:ea typeface="黑体" panose="02010609060101010101" pitchFamily="49" charset="-122"/>
                </a:endParaRPr>
              </a:p>
              <a:p>
                <a:pPr algn="just" eaLnBrk="1" hangingPunct="1">
                  <a:lnSpc>
                    <a:spcPct val="11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:r>
                  <a:rPr lang="en-US" altLang="zh-CN" b="0" dirty="0">
                    <a:ea typeface="黑体" panose="02010609060101010101" pitchFamily="49" charset="-122"/>
                  </a:rPr>
                  <a:t>(1)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𝜔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𝐺</m:t>
                        </m:r>
                      </m:e>
                    </m:acc>
                  </m:oMath>
                </a14:m>
                <a:r>
                  <a:rPr lang="zh-CN" altLang="en-US" b="0" dirty="0">
                    <a:ea typeface="黑体" panose="02010609060101010101" pitchFamily="49" charset="-122"/>
                  </a:rPr>
                  <a:t> 来自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𝑥𝑦𝑧</m:t>
                    </m:r>
                  </m:oMath>
                </a14:m>
                <a:r>
                  <a:rPr lang="zh-CN" altLang="en-US" b="0" dirty="0">
                    <a:ea typeface="黑体" panose="02010609060101010101" pitchFamily="49" charset="-122"/>
                  </a:rPr>
                  <a:t>轴转动</a:t>
                </a:r>
                <a:endParaRPr lang="en-US" altLang="zh-CN" b="0" dirty="0">
                  <a:ea typeface="黑体" panose="02010609060101010101" pitchFamily="49" charset="-122"/>
                </a:endParaRPr>
              </a:p>
              <a:p>
                <a:pPr algn="just" eaLnBrk="1" hangingPunct="1">
                  <a:lnSpc>
                    <a:spcPct val="11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:r>
                  <a:rPr lang="en-US" altLang="zh-CN" dirty="0">
                    <a:ea typeface="黑体" panose="02010609060101010101" pitchFamily="49" charset="-122"/>
                  </a:rPr>
                  <a:t>(2)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∗</m:t>
                            </m:r>
                          </m:sup>
                        </m:sSup>
                        <m:acc>
                          <m:accPr>
                            <m:chr m:val="⃗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𝐺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≡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𝐺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𝑖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𝐺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𝑗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𝐺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𝑧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𝑘</m:t>
                        </m:r>
                      </m:e>
                    </m:acc>
                  </m:oMath>
                </a14:m>
                <a:r>
                  <a:rPr lang="zh-CN" altLang="en-US" dirty="0">
                    <a:ea typeface="黑体" panose="02010609060101010101" pitchFamily="49" charset="-122"/>
                  </a:rPr>
                  <a:t>，如果我们取该刚体为参考系，</a:t>
                </a:r>
                <a:r>
                  <a:rPr lang="en-US" altLang="zh-CN" dirty="0"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∗</m:t>
                            </m:r>
                          </m:sup>
                        </m:sSup>
                        <m:acc>
                          <m:accPr>
                            <m:chr m:val="⃗"/>
                            <m:ctrlPr>
                              <a:rPr lang="en-US" altLang="zh-CN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𝐺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en-US" dirty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dirty="0">
                    <a:ea typeface="黑体" panose="02010609060101010101" pitchFamily="49" charset="-122"/>
                  </a:rPr>
                  <a:t>为</a:t>
                </a:r>
                <a:r>
                  <a:rPr lang="zh-CN" altLang="en-US" dirty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刚体参考系中矢量导数</a:t>
                </a:r>
                <a:endParaRPr lang="en-US" altLang="zh-CN" dirty="0">
                  <a:solidFill>
                    <a:srgbClr val="0000FF"/>
                  </a:solidFill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30" y="2760571"/>
                <a:ext cx="6136122" cy="3371051"/>
              </a:xfrm>
              <a:prstGeom prst="rect">
                <a:avLst/>
              </a:prstGeom>
              <a:blipFill rotWithShape="1">
                <a:blip r:embed="rId2"/>
                <a:stretch>
                  <a:fillRect l="-3" t="-7" r="5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6569180" y="3058537"/>
            <a:ext cx="2452338" cy="2970638"/>
            <a:chOff x="6523387" y="2387424"/>
            <a:chExt cx="2452338" cy="2970638"/>
          </a:xfrm>
        </p:grpSpPr>
        <p:sp>
          <p:nvSpPr>
            <p:cNvPr id="6" name="Freeform 6"/>
            <p:cNvSpPr/>
            <p:nvPr/>
          </p:nvSpPr>
          <p:spPr bwMode="auto">
            <a:xfrm rot="1800000" flipH="1">
              <a:off x="7100888" y="4325194"/>
              <a:ext cx="88900" cy="736600"/>
            </a:xfrm>
            <a:custGeom>
              <a:avLst/>
              <a:gdLst>
                <a:gd name="T0" fmla="*/ 0 w 540"/>
                <a:gd name="T1" fmla="*/ 0 h 372"/>
                <a:gd name="T2" fmla="*/ 0 w 540"/>
                <a:gd name="T3" fmla="*/ 1124 h 37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40" h="372">
                  <a:moveTo>
                    <a:pt x="540" y="0"/>
                  </a:moveTo>
                  <a:lnTo>
                    <a:pt x="0" y="372"/>
                  </a:ln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 type="none" w="med" len="med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 bwMode="auto">
            <a:xfrm rot="333572" flipH="1">
              <a:off x="6805613" y="2753569"/>
              <a:ext cx="544513" cy="1566863"/>
            </a:xfrm>
            <a:custGeom>
              <a:avLst/>
              <a:gdLst>
                <a:gd name="T0" fmla="*/ 0 w 752"/>
                <a:gd name="T1" fmla="*/ 676 h 1093"/>
                <a:gd name="T2" fmla="*/ 23 w 752"/>
                <a:gd name="T3" fmla="*/ 0 h 109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52" h="1093">
                  <a:moveTo>
                    <a:pt x="0" y="1093"/>
                  </a:moveTo>
                  <a:lnTo>
                    <a:pt x="752" y="0"/>
                  </a:ln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 type="none" w="med" len="med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 flipV="1">
              <a:off x="7297738" y="3979119"/>
              <a:ext cx="1508125" cy="35560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/>
            <a:p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Object 12"/>
                <p:cNvSpPr txBox="1"/>
                <p:nvPr/>
              </p:nvSpPr>
              <p:spPr bwMode="auto">
                <a:xfrm>
                  <a:off x="6523387" y="2387424"/>
                  <a:ext cx="282575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CN" altLang="en-US" dirty="0">
                    <a:solidFill>
                      <a:srgbClr val="0000FF"/>
                    </a:solidFill>
                  </a:endParaRPr>
                </a:p>
              </p:txBody>
            </p:sp>
          </mc:Choice>
          <mc:Fallback>
            <p:sp>
              <p:nvSpPr>
                <p:cNvPr id="32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523387" y="2387424"/>
                  <a:ext cx="282575" cy="461665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Object 12"/>
                <p:cNvSpPr txBox="1"/>
                <p:nvPr/>
              </p:nvSpPr>
              <p:spPr bwMode="auto">
                <a:xfrm>
                  <a:off x="8693150" y="3507620"/>
                  <a:ext cx="282575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dirty="0">
                    <a:solidFill>
                      <a:srgbClr val="0000FF"/>
                    </a:solidFill>
                  </a:endParaRPr>
                </a:p>
              </p:txBody>
            </p:sp>
          </mc:Choice>
          <mc:Fallback>
            <p:sp>
              <p:nvSpPr>
                <p:cNvPr id="33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693150" y="3507620"/>
                  <a:ext cx="282575" cy="461665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Object 12"/>
                <p:cNvSpPr txBox="1"/>
                <p:nvPr/>
              </p:nvSpPr>
              <p:spPr bwMode="auto">
                <a:xfrm>
                  <a:off x="6922693" y="4896397"/>
                  <a:ext cx="282575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dirty="0">
                    <a:solidFill>
                      <a:srgbClr val="0000FF"/>
                    </a:solidFill>
                  </a:endParaRPr>
                </a:p>
              </p:txBody>
            </p:sp>
          </mc:Choice>
          <mc:Fallback>
            <p:sp>
              <p:nvSpPr>
                <p:cNvPr id="34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22693" y="4896397"/>
                  <a:ext cx="282575" cy="461665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/>
          <p:cNvGrpSpPr/>
          <p:nvPr/>
        </p:nvGrpSpPr>
        <p:grpSpPr>
          <a:xfrm>
            <a:off x="6074063" y="2723007"/>
            <a:ext cx="3043876" cy="3560417"/>
            <a:chOff x="6028270" y="2051894"/>
            <a:chExt cx="3043876" cy="3560417"/>
          </a:xfrm>
        </p:grpSpPr>
        <p:sp>
          <p:nvSpPr>
            <p:cNvPr id="5" name="Freeform 5"/>
            <p:cNvSpPr/>
            <p:nvPr/>
          </p:nvSpPr>
          <p:spPr bwMode="auto">
            <a:xfrm rot="1800000">
              <a:off x="6684963" y="4161682"/>
              <a:ext cx="396875" cy="962025"/>
            </a:xfrm>
            <a:custGeom>
              <a:avLst/>
              <a:gdLst>
                <a:gd name="T0" fmla="*/ 7 w 603"/>
                <a:gd name="T1" fmla="*/ 0 h 1776"/>
                <a:gd name="T2" fmla="*/ 0 w 603"/>
                <a:gd name="T3" fmla="*/ 8 h 177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3" h="1776">
                  <a:moveTo>
                    <a:pt x="603" y="0"/>
                  </a:moveTo>
                  <a:lnTo>
                    <a:pt x="0" y="1776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none" w="med" len="med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Object 12"/>
                <p:cNvSpPr txBox="1"/>
                <p:nvPr/>
              </p:nvSpPr>
              <p:spPr bwMode="auto">
                <a:xfrm>
                  <a:off x="6996113" y="2051894"/>
                  <a:ext cx="282575" cy="4619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2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96113" y="2051894"/>
                  <a:ext cx="282575" cy="461963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7324726" y="4337894"/>
              <a:ext cx="17224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/>
            <a:p>
              <a:endParaRPr lang="en-US"/>
            </a:p>
          </p:txBody>
        </p:sp>
        <p:sp>
          <p:nvSpPr>
            <p:cNvPr id="16" name="Rectangle 16" descr="再生纸"/>
            <p:cNvSpPr>
              <a:spLocks noChangeArrowheads="1"/>
            </p:cNvSpPr>
            <p:nvPr/>
          </p:nvSpPr>
          <p:spPr bwMode="auto">
            <a:xfrm rot="4610669">
              <a:off x="7148513" y="3034557"/>
              <a:ext cx="1162050" cy="1185863"/>
            </a:xfrm>
            <a:prstGeom prst="rect">
              <a:avLst/>
            </a:prstGeom>
            <a:blipFill dpi="0" rotWithShape="0">
              <a:blip r:embed="rId7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ea typeface="黑体" panose="02010609060101010101" pitchFamily="49" charset="-122"/>
              </a:endParaRPr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 flipV="1">
              <a:off x="7288213" y="2132857"/>
              <a:ext cx="0" cy="2209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8" name="Object 18"/>
            <p:cNvGraphicFramePr>
              <a:graphicFrameLocks noChangeAspect="1"/>
            </p:cNvGraphicFramePr>
            <p:nvPr/>
          </p:nvGraphicFramePr>
          <p:xfrm>
            <a:off x="7364413" y="4418857"/>
            <a:ext cx="341313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324" name="Equation" r:id="rId8" imgW="3048000" imgH="3352800" progId="Equation.3">
                    <p:embed/>
                  </p:oleObj>
                </mc:Choice>
                <mc:Fallback>
                  <p:oleObj name="Equation" r:id="rId8" imgW="3048000" imgH="33528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64413" y="4418857"/>
                          <a:ext cx="341313" cy="374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Freeform 19"/>
            <p:cNvSpPr/>
            <p:nvPr/>
          </p:nvSpPr>
          <p:spPr bwMode="auto">
            <a:xfrm>
              <a:off x="7897813" y="4190257"/>
              <a:ext cx="1588" cy="152400"/>
            </a:xfrm>
            <a:custGeom>
              <a:avLst/>
              <a:gdLst>
                <a:gd name="T0" fmla="*/ 0 w 1"/>
                <a:gd name="T1" fmla="*/ 0 h 96"/>
                <a:gd name="T2" fmla="*/ 0 w 1"/>
                <a:gd name="T3" fmla="*/ 96 h 96"/>
                <a:gd name="T4" fmla="*/ 0 w 1"/>
                <a:gd name="T5" fmla="*/ 0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96">
                  <a:moveTo>
                    <a:pt x="0" y="0"/>
                  </a:moveTo>
                  <a:cubicBezTo>
                    <a:pt x="0" y="0"/>
                    <a:pt x="0" y="96"/>
                    <a:pt x="0" y="96"/>
                  </a:cubicBezTo>
                  <a:cubicBezTo>
                    <a:pt x="0" y="96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 flipV="1">
              <a:off x="7288213" y="3580657"/>
              <a:ext cx="4572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V="1">
              <a:off x="7288213" y="3809257"/>
              <a:ext cx="30480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2" name="Object 22"/>
            <p:cNvGraphicFramePr>
              <a:graphicFrameLocks noChangeAspect="1"/>
            </p:cNvGraphicFramePr>
            <p:nvPr/>
          </p:nvGraphicFramePr>
          <p:xfrm>
            <a:off x="7737476" y="3493344"/>
            <a:ext cx="357188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325" name="Equation" r:id="rId10" imgW="3048000" imgH="3352800" progId="Equation.3">
                    <p:embed/>
                  </p:oleObj>
                </mc:Choice>
                <mc:Fallback>
                  <p:oleObj name="Equation" r:id="rId10" imgW="3048000" imgH="335280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37476" y="3493344"/>
                          <a:ext cx="357188" cy="387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Object 24"/>
                <p:cNvSpPr txBox="1"/>
                <p:nvPr/>
              </p:nvSpPr>
              <p:spPr bwMode="auto">
                <a:xfrm>
                  <a:off x="7834313" y="2882157"/>
                  <a:ext cx="381000" cy="4619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acc>
                      </m:oMath>
                    </m:oMathPara>
                  </a14:m>
                  <a:endParaRPr lang="zh-CN" altLang="en-US" dirty="0">
                    <a:solidFill>
                      <a:srgbClr val="0000FF"/>
                    </a:solidFill>
                  </a:endParaRPr>
                </a:p>
              </p:txBody>
            </p:sp>
          </mc:Choice>
          <mc:Fallback>
            <p:sp>
              <p:nvSpPr>
                <p:cNvPr id="24" name="Object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834313" y="2882157"/>
                  <a:ext cx="381000" cy="461963"/>
                </a:xfrm>
                <a:prstGeom prst="rect">
                  <a:avLst/>
                </a:prstGeom>
                <a:blipFill rotWithShape="1">
                  <a:blip r:embed="rId11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Object 12"/>
                <p:cNvSpPr txBox="1"/>
                <p:nvPr/>
              </p:nvSpPr>
              <p:spPr bwMode="auto">
                <a:xfrm>
                  <a:off x="8789571" y="4271424"/>
                  <a:ext cx="282575" cy="4619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0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789571" y="4271424"/>
                  <a:ext cx="282575" cy="461963"/>
                </a:xfrm>
                <a:prstGeom prst="rect">
                  <a:avLst/>
                </a:prstGeom>
                <a:blipFill rotWithShape="1">
                  <a:blip r:embed="rId12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Object 12"/>
                <p:cNvSpPr txBox="1"/>
                <p:nvPr/>
              </p:nvSpPr>
              <p:spPr bwMode="auto">
                <a:xfrm>
                  <a:off x="6166987" y="4387950"/>
                  <a:ext cx="282575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𝜉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1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66987" y="4387950"/>
                  <a:ext cx="282575" cy="461665"/>
                </a:xfrm>
                <a:prstGeom prst="rect">
                  <a:avLst/>
                </a:prstGeom>
                <a:blipFill rotWithShape="1">
                  <a:blip r:embed="rId13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弧形 27"/>
            <p:cNvSpPr/>
            <p:nvPr/>
          </p:nvSpPr>
          <p:spPr bwMode="auto">
            <a:xfrm>
              <a:off x="6028270" y="3092311"/>
              <a:ext cx="2520000" cy="2520000"/>
            </a:xfrm>
            <a:prstGeom prst="arc">
              <a:avLst>
                <a:gd name="adj1" fmla="val 17283480"/>
                <a:gd name="adj2" fmla="val 18982479"/>
              </a:avLst>
            </a:prstGeom>
            <a:noFill/>
            <a:ln w="38100" cap="flat" cmpd="sng" algn="ctr">
              <a:solidFill>
                <a:srgbClr val="0000FF"/>
              </a:solidFill>
              <a:prstDash val="solid"/>
              <a:round/>
              <a:headEnd type="arrow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8" name="矩形 7"/>
          <p:cNvSpPr/>
          <p:nvPr/>
        </p:nvSpPr>
        <p:spPr>
          <a:xfrm>
            <a:off x="118706" y="697141"/>
            <a:ext cx="2659702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一、速度变换公式</a:t>
            </a:r>
            <a:endParaRPr lang="zh-CN" altLang="en-US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1556385"/>
            <a:ext cx="9144000" cy="37680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7315" y="764540"/>
            <a:ext cx="304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公式</a:t>
            </a:r>
            <a:r>
              <a:rPr lang="zh-CN" altLang="en-US"/>
              <a:t>推导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30325"/>
            <a:ext cx="9144000" cy="41967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18285"/>
            <a:ext cx="9144000" cy="38214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03655"/>
            <a:ext cx="9144000" cy="42506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60" y="1504950"/>
            <a:ext cx="8029575" cy="3848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404495"/>
            <a:ext cx="6953250" cy="26098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60" y="2924810"/>
            <a:ext cx="6858000" cy="25038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6830" y="2060575"/>
            <a:ext cx="9144000" cy="23183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268" name="Rectangle 28"/>
              <p:cNvSpPr>
                <a:spLocks noChangeArrowheads="1"/>
              </p:cNvSpPr>
              <p:nvPr/>
            </p:nvSpPr>
            <p:spPr bwMode="auto">
              <a:xfrm>
                <a:off x="145827" y="116632"/>
                <a:ext cx="8890669" cy="6452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6708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8618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528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:r>
                  <a:rPr lang="zh-CN" altLang="en-US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考虑一质点（不一定是刚体上一点），本体坐标系中位矢为</a:t>
                </a:r>
                <a:endPara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endParaRPr>
              </a:p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</m:acc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endParaRPr>
              </a:p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:r>
                  <a:rPr lang="zh-CN" altLang="en-US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地面参考系中质点的速度为</a:t>
                </a:r>
                <a:endPara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endParaRPr>
              </a:p>
              <a:p>
                <a:pPr algn="just" eaLnBrk="1" hangingPunct="1"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</m:acc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≡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𝑟</m:t>
                              </m:r>
                            </m:e>
                          </m:acc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∗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𝑟</m:t>
                              </m:r>
                            </m:e>
                          </m:acc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en-US" altLang="zh-CN" b="0" dirty="0">
                  <a:solidFill>
                    <a:schemeClr val="tx1"/>
                  </a:solidFill>
                  <a:ea typeface="黑体" panose="02010609060101010101" pitchFamily="49" charset="-122"/>
                </a:endParaRPr>
              </a:p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:r>
                  <a:rPr lang="zh-CN" altLang="en-US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右边第一项为</a:t>
                </a:r>
                <a:endPara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endParaRPr>
              </a:p>
              <a:p>
                <a:pPr algn="just" eaLnBrk="1" hangingPunct="1"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∗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en-US" altLang="zh-CN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𝑟</m:t>
                              </m:r>
                            </m:e>
                          </m:acc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⃗"/>
                          <m:ctrlP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e>
                      </m:acc>
                      <m:r>
                        <a:rPr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acc>
                      <m:acc>
                        <m:accPr>
                          <m:chr m:val="⃗"/>
                          <m:ctrlP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e>
                      </m:acc>
                      <m:r>
                        <a:rPr lang="en-US" altLang="zh-CN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z</m:t>
                          </m:r>
                        </m:e>
                      </m:acc>
                      <m:acc>
                        <m:accPr>
                          <m:chr m:val="⃗"/>
                          <m:ctrlP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</m:acc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endParaRPr>
              </a:p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:r>
                  <a:rPr lang="zh-CN" altLang="en-US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若取刚体为</a:t>
                </a:r>
                <a:r>
                  <a:rPr lang="zh-CN" altLang="en-US" dirty="0">
                    <a:ea typeface="黑体" panose="02010609060101010101" pitchFamily="49" charset="-122"/>
                  </a:rPr>
                  <a:t>参照物</a:t>
                </a:r>
                <a:r>
                  <a:rPr lang="zh-CN" altLang="en-US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，</a:t>
                </a:r>
                <a:r>
                  <a:rPr lang="zh-CN" altLang="en-US" dirty="0">
                    <a:ea typeface="黑体" panose="02010609060101010101" pitchFamily="49" charset="-122"/>
                  </a:rPr>
                  <a:t>此参考系中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𝑖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𝑗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𝑘</m:t>
                        </m:r>
                      </m:e>
                    </m:acc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均为常矢量，故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𝑣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</m:e>
                          <m:sup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∗</m:t>
                            </m:r>
                          </m:sup>
                        </m:sSup>
                        <m:acc>
                          <m:accPr>
                            <m:chr m:val="⃗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𝑟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</m:den>
                    </m:f>
                  </m:oMath>
                </a14:m>
                <a:endParaRPr lang="en-US" altLang="zh-CN" b="0" dirty="0">
                  <a:solidFill>
                    <a:schemeClr val="tx1"/>
                  </a:solidFill>
                  <a:ea typeface="黑体" panose="02010609060101010101" pitchFamily="49" charset="-122"/>
                </a:endParaRPr>
              </a:p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en-US" altLang="zh-CN" b="0" dirty="0">
                  <a:solidFill>
                    <a:srgbClr val="0000FF"/>
                  </a:solidFill>
                  <a:ea typeface="黑体" panose="02010609060101010101" pitchFamily="49" charset="-122"/>
                </a:endParaRPr>
              </a:p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:r>
                  <a:rPr lang="zh-CN" altLang="en-US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上式为</a:t>
                </a:r>
                <a:r>
                  <a:rPr lang="zh-CN" altLang="en-US" b="1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地面参考系</a:t>
                </a:r>
                <a:r>
                  <a:rPr lang="zh-CN" altLang="en-US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与</a:t>
                </a:r>
                <a:r>
                  <a:rPr lang="zh-CN" altLang="en-US" b="1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刚体参考系</a:t>
                </a:r>
                <a:r>
                  <a:rPr lang="zh-CN" altLang="en-US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中速度的变换式</a:t>
                </a:r>
                <a:r>
                  <a:rPr lang="zh-CN" altLang="en-US" dirty="0">
                    <a:ea typeface="黑体" panose="02010609060101010101" pitchFamily="49" charset="-122"/>
                  </a:rPr>
                  <a:t>。因</a:t>
                </a:r>
                <a:r>
                  <a:rPr lang="zh-CN" altLang="en-US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刚体有角速度，故称此刚体参考系为 </a:t>
                </a:r>
                <a:r>
                  <a:rPr lang="zh-CN" altLang="en-US" b="1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转动参考系</a:t>
                </a:r>
                <a:r>
                  <a:rPr lang="zh-CN" altLang="en-US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。</a:t>
                </a:r>
                <a:endPara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0268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5827" y="116632"/>
                <a:ext cx="8890669" cy="6452600"/>
              </a:xfrm>
              <a:prstGeom prst="rect">
                <a:avLst/>
              </a:prstGeom>
              <a:blipFill rotWithShape="1">
                <a:blip r:embed="rId1"/>
                <a:stretch>
                  <a:fillRect l="-5" t="-7" r="5" b="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2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268" name="Rectangle 28"/>
              <p:cNvSpPr>
                <a:spLocks noChangeArrowheads="1"/>
              </p:cNvSpPr>
              <p:nvPr/>
            </p:nvSpPr>
            <p:spPr bwMode="auto">
              <a:xfrm>
                <a:off x="145827" y="116632"/>
                <a:ext cx="8890669" cy="51190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6708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8618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528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:r>
                  <a:rPr lang="zh-CN" altLang="en-US" dirty="0">
                    <a:ea typeface="黑体" panose="02010609060101010101" pitchFamily="49" charset="-122"/>
                  </a:rPr>
                  <a:t>地面系与转动系的</a:t>
                </a:r>
                <a:r>
                  <a:rPr lang="zh-CN" altLang="en-US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速度变换公式</a:t>
                </a:r>
                <a:r>
                  <a:rPr lang="zh-CN" altLang="en-US" dirty="0">
                    <a:ea typeface="黑体" panose="02010609060101010101" pitchFamily="49" charset="-122"/>
                  </a:rPr>
                  <a:t>为</a:t>
                </a:r>
                <a:endParaRPr lang="en-US" altLang="zh-CN" dirty="0">
                  <a:ea typeface="黑体" panose="02010609060101010101" pitchFamily="49" charset="-122"/>
                </a:endParaRPr>
              </a:p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en-US" altLang="zh-CN" b="0" dirty="0">
                  <a:solidFill>
                    <a:srgbClr val="0000FF"/>
                  </a:solidFill>
                  <a:ea typeface="黑体" panose="02010609060101010101" pitchFamily="49" charset="-122"/>
                </a:endParaRPr>
              </a:p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绝对</m:t>
                      </m:r>
                      <m:r>
                        <a:rPr lang="zh-CN" altLang="en-US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速度</m:t>
                      </m:r>
                      <m:r>
                        <a:rPr lang="en-US" altLang="zh-CN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zh-CN" altLang="en-US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相对</m:t>
                      </m:r>
                      <m:r>
                        <a:rPr lang="zh-CN" alt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速度</m:t>
                      </m:r>
                      <m:r>
                        <a:rPr lang="en-US" altLang="zh-CN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lang="zh-CN" alt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牵连</m:t>
                      </m:r>
                      <m:r>
                        <a:rPr lang="zh-CN" altLang="en-US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速度</m:t>
                      </m:r>
                    </m:oMath>
                  </m:oMathPara>
                </a14:m>
                <a:endParaRPr lang="en-US" altLang="zh-CN" dirty="0">
                  <a:solidFill>
                    <a:srgbClr val="0000FF"/>
                  </a:solidFill>
                  <a:ea typeface="黑体" panose="02010609060101010101" pitchFamily="49" charset="-122"/>
                </a:endParaRPr>
              </a:p>
              <a:p>
                <a:pPr marL="457200" indent="-457200"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AutoNum type="arabicParenBoth"/>
                </a:pPr>
                <a:r>
                  <a:rPr lang="zh-CN" altLang="en-US" dirty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平动</a:t>
                </a:r>
                <a:r>
                  <a:rPr lang="zh-CN" altLang="en-US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参考系变换</a:t>
                </a:r>
                <a:r>
                  <a:rPr lang="en-US" altLang="zh-CN" dirty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𝑣</m:t>
                        </m:r>
                      </m:e>
                    </m:acc>
                    <m:r>
                      <a:rPr lang="en-US" altLang="zh-CN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𝑣</m:t>
                            </m:r>
                          </m:e>
                        </m:acc>
                      </m:e>
                      <m:sup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′</m:t>
                        </m:r>
                      </m:sup>
                    </m:sSup>
                    <m:r>
                      <a:rPr lang="en-US" altLang="zh-CN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，牵连速度为</a:t>
                </a:r>
                <a:r>
                  <a:rPr lang="zh-CN" altLang="en-US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动系原点的速度</a:t>
                </a:r>
                <a:r>
                  <a:rPr lang="zh-CN" altLang="en-US" dirty="0">
                    <a:ea typeface="黑体" panose="02010609060101010101" pitchFamily="49" charset="-122"/>
                  </a:rPr>
                  <a:t>，且</a:t>
                </a:r>
                <a:r>
                  <a:rPr lang="zh-CN" altLang="en-US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任一点</a:t>
                </a:r>
                <a:r>
                  <a:rPr lang="zh-CN" altLang="en-US" dirty="0">
                    <a:ea typeface="黑体" panose="02010609060101010101" pitchFamily="49" charset="-122"/>
                  </a:rPr>
                  <a:t>速度变换均使用</a:t>
                </a:r>
                <a:r>
                  <a:rPr lang="zh-CN" altLang="en-US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相同的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endParaRPr>
              </a:p>
              <a:p>
                <a:pPr marL="457200" indent="-457200"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AutoNum type="arabicParenBoth"/>
                </a:pPr>
                <a:r>
                  <a:rPr lang="zh-CN" altLang="en-US" dirty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转动</a:t>
                </a:r>
                <a:r>
                  <a:rPr lang="zh-CN" altLang="en-US" dirty="0">
                    <a:ea typeface="黑体" panose="02010609060101010101" pitchFamily="49" charset="-122"/>
                  </a:rPr>
                  <a:t>参考系变换，</a:t>
                </a:r>
                <a:r>
                  <a:rPr lang="zh-CN" altLang="en-US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牵连速度</a:t>
                </a:r>
                <a:r>
                  <a:rPr lang="en-US" altLang="zh-CN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𝜔</m:t>
                        </m:r>
                      </m:e>
                    </m:acc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 </a:t>
                </a:r>
                <a:r>
                  <a:rPr lang="zh-CN" altLang="en-US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是由参考系转动引起的，</a:t>
                </a:r>
                <a:r>
                  <a:rPr lang="zh-CN" altLang="en-US" dirty="0">
                    <a:ea typeface="黑体" panose="02010609060101010101" pitchFamily="49" charset="-122"/>
                  </a:rPr>
                  <a:t>且</a:t>
                </a:r>
                <a:r>
                  <a:rPr lang="zh-CN" altLang="en-US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牵连速度依赖于点的位置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𝑟</m:t>
                        </m:r>
                      </m:e>
                    </m:acc>
                  </m:oMath>
                </a14:m>
                <a:endParaRPr lang="en-US" altLang="zh-CN" b="0" dirty="0">
                  <a:ea typeface="黑体" panose="02010609060101010101" pitchFamily="49" charset="-122"/>
                </a:endParaRPr>
              </a:p>
              <a:p>
                <a:pPr marL="457200" indent="-457200"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AutoNum type="arabicParenBoth"/>
                </a:pPr>
                <a:r>
                  <a:rPr lang="zh-CN" altLang="en-US" dirty="0">
                    <a:ea typeface="黑体" panose="02010609060101010101" pitchFamily="49" charset="-122"/>
                  </a:rPr>
                  <a:t>若</a:t>
                </a:r>
                <a:r>
                  <a:rPr lang="en-US" altLang="zh-CN" dirty="0">
                    <a:ea typeface="黑体" panose="02010609060101010101" pitchFamily="49" charset="-122"/>
                  </a:rPr>
                  <a:t>P</a:t>
                </a:r>
                <a:r>
                  <a:rPr lang="zh-CN" altLang="en-US" dirty="0">
                    <a:ea typeface="黑体" panose="02010609060101010101" pitchFamily="49" charset="-122"/>
                  </a:rPr>
                  <a:t>点取为刚体上一点，则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𝑣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b="0" dirty="0">
                    <a:ea typeface="黑体" panose="02010609060101010101" pitchFamily="49" charset="-122"/>
                  </a:rPr>
                  <a:t>，上式回到定点运动中刚体上任一点的速度公式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𝑣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𝜔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𝑟</m:t>
                        </m:r>
                      </m:e>
                    </m:acc>
                  </m:oMath>
                </a14:m>
                <a:endParaRPr lang="en-US" altLang="zh-CN" b="0" dirty="0"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0268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5827" y="116632"/>
                <a:ext cx="8890669" cy="5119030"/>
              </a:xfrm>
              <a:prstGeom prst="rect">
                <a:avLst/>
              </a:prstGeom>
              <a:blipFill rotWithShape="1">
                <a:blip r:embed="rId1"/>
                <a:stretch>
                  <a:fillRect l="-5" t="-8" r="5" b="-5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3314" name="Text Box 3"/>
              <p:cNvSpPr txBox="1">
                <a:spLocks noChangeArrowheads="1"/>
              </p:cNvSpPr>
              <p:nvPr/>
            </p:nvSpPr>
            <p:spPr bwMode="auto">
              <a:xfrm>
                <a:off x="193321" y="116632"/>
                <a:ext cx="8771167" cy="656288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1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例</a:t>
                </a:r>
                <a:r>
                  <a:rPr lang="en-US" altLang="zh-CN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zh-CN" altLang="en-US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：</a:t>
                </a:r>
                <a:r>
                  <a:rPr kumimoji="1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已知直管以等角速度</a:t>
                </a:r>
                <a:r>
                  <a:rPr kumimoji="1" lang="en-US" altLang="zh-CN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Math C" pitchFamily="2" charset="2"/>
                  </a:rPr>
                  <a:t>ω</a:t>
                </a:r>
                <a:r>
                  <a:rPr kumimoji="1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stem"/>
                  </a:rPr>
                  <a:t>绕定轴 </a:t>
                </a:r>
                <a:r>
                  <a:rPr kumimoji="1" lang="en-US" altLang="zh-CN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stem"/>
                  </a:rPr>
                  <a:t>O</a:t>
                </a:r>
                <a:r>
                  <a:rPr kumimoji="1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stem"/>
                  </a:rPr>
                  <a:t>转动。管中质点</a:t>
                </a:r>
                <a:r>
                  <a:rPr kumimoji="1" lang="en-US" altLang="zh-CN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stem"/>
                  </a:rPr>
                  <a:t>P</a:t>
                </a:r>
                <a:r>
                  <a:rPr kumimoji="1" lang="zh-CN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stem"/>
                  </a:rPr>
                  <a:t>以等速度</a:t>
                </a:r>
                <a:r>
                  <a:rPr kumimoji="1" lang="en-US" altLang="zh-CN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stem"/>
                  </a:rPr>
                  <a:t>u</a:t>
                </a:r>
                <a:r>
                  <a:rPr kumimoji="1" lang="zh-CN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stem"/>
                  </a:rPr>
                  <a:t>沿管线运动。</a:t>
                </a:r>
                <a:r>
                  <a:rPr kumimoji="1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求</a:t>
                </a:r>
                <a:r>
                  <a:rPr kumimoji="1" lang="en-US" altLang="zh-CN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OP </a:t>
                </a:r>
                <a:r>
                  <a:rPr kumimoji="1" lang="en-US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＝</a:t>
                </a:r>
                <a:r>
                  <a:rPr kumimoji="1" lang="en-US" altLang="zh-CN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R</a:t>
                </a:r>
                <a:r>
                  <a:rPr kumimoji="1" lang="en-US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/3</a:t>
                </a:r>
                <a:r>
                  <a:rPr kumimoji="1" lang="zh-CN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和</a:t>
                </a:r>
                <a:r>
                  <a:rPr kumimoji="1" lang="en-US" altLang="zh-CN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OP</a:t>
                </a:r>
                <a:r>
                  <a:rPr kumimoji="1" lang="en-US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＝</a:t>
                </a:r>
                <a:r>
                  <a:rPr kumimoji="1" lang="en-US" altLang="zh-CN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R</a:t>
                </a:r>
                <a:r>
                  <a:rPr kumimoji="1" lang="zh-CN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时，质点</a:t>
                </a:r>
                <a:r>
                  <a:rPr kumimoji="1" lang="en-US" altLang="zh-CN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P</a:t>
                </a:r>
                <a:r>
                  <a:rPr kumimoji="1" lang="zh-CN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对地面的速度。</a:t>
                </a:r>
                <a:endParaRPr kumimoji="1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1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b="1" dirty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分析：</a:t>
                </a:r>
                <a:r>
                  <a:rPr lang="zh-CN" altLang="en-US" dirty="0">
                    <a:solidFill>
                      <a:srgbClr val="000000"/>
                    </a:solidFill>
                    <a:ea typeface="黑体" panose="02010609060101010101" pitchFamily="49" charset="-122"/>
                  </a:rPr>
                  <a:t>取直管为参照物，质点作匀速直线运动；直管本身转动，故参考系为转动参考系，速度变换公式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𝑣</m:t>
                        </m:r>
                      </m:e>
                    </m:acc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𝑣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𝜔</m:t>
                        </m:r>
                      </m:e>
                    </m:acc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𝑟</m:t>
                        </m:r>
                      </m:e>
                    </m:acc>
                  </m:oMath>
                </a14:m>
                <a:endParaRPr kumimoji="1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1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dirty="0">
                  <a:solidFill>
                    <a:srgbClr val="000000"/>
                  </a:solidFill>
                  <a:ea typeface="黑体" panose="02010609060101010101" pitchFamily="49" charset="-122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1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1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dirty="0">
                  <a:solidFill>
                    <a:srgbClr val="000000"/>
                  </a:solidFill>
                  <a:ea typeface="黑体" panose="02010609060101010101" pitchFamily="49" charset="-122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1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地面参考系采用极坐标系，</a:t>
                </a:r>
                <a14:m>
                  <m:oMath xmlns:m="http://schemas.openxmlformats.org/officeDocument/2006/math">
                    <m:r>
                      <a:rPr kumimoji="1" lang="en-US" altLang="zh-CN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𝜉</m:t>
                    </m:r>
                  </m:oMath>
                </a14:m>
                <a:r>
                  <a:rPr kumimoji="1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沿位矢方向</a:t>
                </a:r>
                <a:endParaRPr kumimoji="1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1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>
                    <a:solidFill>
                      <a:srgbClr val="000000"/>
                    </a:solidFill>
                    <a:ea typeface="黑体" panose="02010609060101010101" pitchFamily="49" charset="-122"/>
                  </a:rPr>
                  <a:t>相对速度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𝑣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𝑢</m:t>
                    </m:r>
                    <m:acc>
                      <m:accPr>
                        <m:chr m:val="⃗"/>
                        <m:ctrlP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𝑖</m:t>
                        </m:r>
                      </m:e>
                    </m:acc>
                  </m:oMath>
                </a14:m>
                <a:r>
                  <a:rPr kumimoji="1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，位矢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accPr>
                      <m:e>
                        <m:r>
                          <a:rPr kumimoji="1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𝑟</m:t>
                        </m:r>
                      </m:e>
                    </m:acc>
                    <m:r>
                      <a:rPr kumimoji="1" lang="en-US" altLang="zh-CN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=</m:t>
                    </m:r>
                    <m:r>
                      <a:rPr kumimoji="1" lang="en-US" altLang="zh-CN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𝑟</m:t>
                    </m:r>
                    <m:acc>
                      <m:accPr>
                        <m:chr m:val="⃗"/>
                        <m:ctrlPr>
                          <a:rPr kumimoji="1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accPr>
                      <m:e>
                        <m:r>
                          <a:rPr kumimoji="1" lang="en-US" altLang="zh-CN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𝑖</m:t>
                        </m:r>
                      </m:e>
                    </m:acc>
                    <m:r>
                      <a:rPr lang="zh-CN" altLang="en-US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，</m:t>
                    </m:r>
                  </m:oMath>
                </a14:m>
                <a:r>
                  <a:rPr kumimoji="1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角速度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accPr>
                      <m:e>
                        <m:r>
                          <a:rPr kumimoji="1" lang="en-US" altLang="zh-CN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𝜔</m:t>
                        </m:r>
                      </m:e>
                    </m:acc>
                    <m:r>
                      <a:rPr kumimoji="1" lang="en-US" altLang="zh-CN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=</m:t>
                    </m:r>
                    <m:r>
                      <a:rPr kumimoji="1" lang="en-US" altLang="zh-CN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𝜔</m:t>
                    </m:r>
                    <m:acc>
                      <m:accPr>
                        <m:chr m:val="⃗"/>
                        <m:ctrlPr>
                          <a:rPr kumimoji="1" lang="en-US" altLang="zh-CN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accPr>
                      <m:e>
                        <m:r>
                          <a:rPr kumimoji="1" lang="en-US" altLang="zh-CN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𝑘</m:t>
                        </m:r>
                      </m:e>
                    </m:acc>
                  </m:oMath>
                </a14:m>
                <a:r>
                  <a:rPr kumimoji="1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，故牵连速度</a:t>
                </a:r>
                <a:endParaRPr kumimoji="1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1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en-US" altLang="zh-CN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𝜔</m:t>
                          </m:r>
                        </m:e>
                      </m:acc>
                      <m:r>
                        <a:rPr kumimoji="1" lang="en-US" altLang="zh-CN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kumimoji="1" lang="en-US" altLang="zh-CN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𝑟</m:t>
                          </m:r>
                        </m:e>
                      </m:acc>
                      <m:r>
                        <a:rPr kumimoji="1" lang="en-US" altLang="zh-CN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r>
                        <a:rPr kumimoji="1" lang="en-US" altLang="zh-CN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𝜔</m:t>
                      </m:r>
                      <m:r>
                        <a:rPr kumimoji="1" lang="en-US" altLang="zh-CN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𝑟</m:t>
                      </m:r>
                      <m:acc>
                        <m:accPr>
                          <m:chr m:val="⃗"/>
                          <m:ctrlPr>
                            <a:rPr kumimoji="1" lang="en-US" altLang="zh-CN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𝑗</m:t>
                          </m:r>
                        </m:e>
                      </m:acc>
                    </m:oMath>
                  </m:oMathPara>
                </a14:m>
                <a:endParaRPr kumimoji="1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1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en-US" altLang="zh-CN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𝑣</m:t>
                          </m:r>
                        </m:e>
                      </m:acc>
                      <m:r>
                        <a:rPr kumimoji="1" lang="en-US" altLang="zh-CN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kumimoji="1" lang="en-US" altLang="zh-CN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kumimoji="1" lang="en-US" altLang="zh-CN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kumimoji="1" lang="en-US" altLang="zh-CN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𝜔</m:t>
                          </m:r>
                        </m:e>
                      </m:acc>
                      <m:r>
                        <a:rPr kumimoji="1" lang="en-US" altLang="zh-CN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kumimoji="1" lang="en-US" altLang="zh-CN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𝑟</m:t>
                          </m:r>
                        </m:e>
                      </m:acc>
                      <m:r>
                        <a:rPr kumimoji="1" lang="en-US" altLang="zh-CN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r>
                        <a:rPr kumimoji="1" lang="en-US" altLang="zh-CN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𝑢</m:t>
                      </m:r>
                      <m:acc>
                        <m:accPr>
                          <m:chr m:val="⃗"/>
                          <m:ctrlPr>
                            <a:rPr kumimoji="1" lang="en-US" altLang="zh-CN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𝑖</m:t>
                          </m:r>
                        </m:e>
                      </m:acc>
                      <m:r>
                        <a:rPr kumimoji="1" lang="en-US" altLang="zh-CN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+</m:t>
                      </m:r>
                      <m:r>
                        <a:rPr kumimoji="1" lang="en-US" altLang="zh-CN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𝜔</m:t>
                      </m:r>
                      <m:r>
                        <a:rPr kumimoji="1" lang="en-US" altLang="zh-CN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𝑟</m:t>
                      </m:r>
                      <m:acc>
                        <m:accPr>
                          <m:chr m:val="⃗"/>
                          <m:ctrlPr>
                            <a:rPr kumimoji="1" lang="en-US" altLang="zh-CN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𝑗</m:t>
                          </m:r>
                        </m:e>
                      </m:acc>
                    </m:oMath>
                  </m:oMathPara>
                </a14:m>
                <a:endParaRPr kumimoji="1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>
          <p:sp>
            <p:nvSpPr>
              <p:cNvPr id="13314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3321" y="116632"/>
                <a:ext cx="8771167" cy="6562887"/>
              </a:xfrm>
              <a:prstGeom prst="rect">
                <a:avLst/>
              </a:prstGeom>
              <a:blipFill rotWithShape="1">
                <a:blip r:embed="rId1"/>
                <a:stretch>
                  <a:fillRect l="-3" t="-7" r="2" b="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315" name="Group 4"/>
          <p:cNvGrpSpPr/>
          <p:nvPr/>
        </p:nvGrpSpPr>
        <p:grpSpPr bwMode="auto">
          <a:xfrm>
            <a:off x="3131840" y="2636912"/>
            <a:ext cx="3567113" cy="1831975"/>
            <a:chOff x="2293" y="2407"/>
            <a:chExt cx="2139" cy="1154"/>
          </a:xfrm>
        </p:grpSpPr>
        <p:grpSp>
          <p:nvGrpSpPr>
            <p:cNvPr id="13317" name="Group 5"/>
            <p:cNvGrpSpPr/>
            <p:nvPr/>
          </p:nvGrpSpPr>
          <p:grpSpPr bwMode="auto">
            <a:xfrm>
              <a:off x="2293" y="2407"/>
              <a:ext cx="2139" cy="1154"/>
              <a:chOff x="2293" y="2407"/>
              <a:chExt cx="2139" cy="1154"/>
            </a:xfrm>
          </p:grpSpPr>
          <p:sp>
            <p:nvSpPr>
              <p:cNvPr id="13321" name="Rectangle 6"/>
              <p:cNvSpPr>
                <a:spLocks noChangeArrowheads="1"/>
              </p:cNvSpPr>
              <p:nvPr/>
            </p:nvSpPr>
            <p:spPr bwMode="auto">
              <a:xfrm>
                <a:off x="2581" y="2994"/>
                <a:ext cx="1728" cy="96"/>
              </a:xfrm>
              <a:prstGeom prst="rect">
                <a:avLst/>
              </a:prstGeom>
              <a:solidFill>
                <a:srgbClr val="FFCCFF"/>
              </a:solidFill>
              <a:ln w="12700">
                <a:solidFill>
                  <a:schemeClr val="accent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grpSp>
            <p:nvGrpSpPr>
              <p:cNvPr id="13322" name="Group 7"/>
              <p:cNvGrpSpPr/>
              <p:nvPr/>
            </p:nvGrpSpPr>
            <p:grpSpPr bwMode="auto">
              <a:xfrm>
                <a:off x="2485" y="3020"/>
                <a:ext cx="144" cy="214"/>
                <a:chOff x="1152" y="3146"/>
                <a:chExt cx="144" cy="214"/>
              </a:xfrm>
            </p:grpSpPr>
            <p:sp>
              <p:nvSpPr>
                <p:cNvPr id="13336" name="Oval 8"/>
                <p:cNvSpPr>
                  <a:spLocks noChangeArrowheads="1"/>
                </p:cNvSpPr>
                <p:nvPr/>
              </p:nvSpPr>
              <p:spPr bwMode="auto">
                <a:xfrm>
                  <a:off x="1200" y="3146"/>
                  <a:ext cx="48" cy="48"/>
                </a:xfrm>
                <a:prstGeom prst="ellipse">
                  <a:avLst/>
                </a:prstGeom>
                <a:solidFill>
                  <a:srgbClr val="CC00FF"/>
                </a:solidFill>
                <a:ln w="12700">
                  <a:solidFill>
                    <a:schemeClr val="accent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3337" name="AutoShape 9"/>
                <p:cNvSpPr>
                  <a:spLocks noChangeArrowheads="1"/>
                </p:cNvSpPr>
                <p:nvPr/>
              </p:nvSpPr>
              <p:spPr bwMode="auto">
                <a:xfrm>
                  <a:off x="1178" y="3216"/>
                  <a:ext cx="96" cy="96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CC00FF"/>
                </a:solidFill>
                <a:ln w="12700">
                  <a:solidFill>
                    <a:schemeClr val="accent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3338" name="Rectangle 10"/>
                <p:cNvSpPr>
                  <a:spLocks noChangeArrowheads="1"/>
                </p:cNvSpPr>
                <p:nvPr/>
              </p:nvSpPr>
              <p:spPr bwMode="auto">
                <a:xfrm>
                  <a:off x="1152" y="3312"/>
                  <a:ext cx="144" cy="48"/>
                </a:xfrm>
                <a:prstGeom prst="rect">
                  <a:avLst/>
                </a:prstGeom>
                <a:solidFill>
                  <a:srgbClr val="CC00FF"/>
                </a:solidFill>
                <a:ln w="12700">
                  <a:solidFill>
                    <a:schemeClr val="accent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endParaRPr>
                </a:p>
              </p:txBody>
            </p:sp>
          </p:grpSp>
          <p:grpSp>
            <p:nvGrpSpPr>
              <p:cNvPr id="13323" name="Group 11"/>
              <p:cNvGrpSpPr/>
              <p:nvPr/>
            </p:nvGrpSpPr>
            <p:grpSpPr bwMode="auto">
              <a:xfrm>
                <a:off x="3737" y="2407"/>
                <a:ext cx="695" cy="634"/>
                <a:chOff x="1690" y="2533"/>
                <a:chExt cx="695" cy="634"/>
              </a:xfrm>
            </p:grpSpPr>
            <p:sp>
              <p:nvSpPr>
                <p:cNvPr id="13334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1690" y="2735"/>
                  <a:ext cx="288" cy="432"/>
                </a:xfrm>
                <a:prstGeom prst="line">
                  <a:avLst/>
                </a:prstGeom>
                <a:noFill/>
                <a:ln w="12700">
                  <a:solidFill>
                    <a:schemeClr val="tx2"/>
                  </a:solidFill>
                  <a:round/>
                  <a:headEnd type="none" w="sm" len="sm"/>
                  <a:tailEnd type="none" w="sm" len="sm"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6397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1968" y="2533"/>
                  <a:ext cx="417" cy="25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zh-CN" alt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uLnTx/>
                      <a:uFillTx/>
                      <a:latin typeface="Times New Roman" panose="02020603050405020304" pitchFamily="18" charset="0"/>
                      <a:ea typeface="黑体" panose="02010609060101010101" pitchFamily="49" charset="-122"/>
                      <a:cs typeface="+mn-cs"/>
                    </a:rPr>
                    <a:t>直管</a:t>
                  </a:r>
                  <a:endParaRPr kumimoji="1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endParaRPr>
                </a:p>
              </p:txBody>
            </p:sp>
          </p:grpSp>
          <p:sp>
            <p:nvSpPr>
              <p:cNvPr id="13324" name="Freeform 14"/>
              <p:cNvSpPr/>
              <p:nvPr/>
            </p:nvSpPr>
            <p:spPr bwMode="auto">
              <a:xfrm rot="-4389613">
                <a:off x="2499" y="2848"/>
                <a:ext cx="244" cy="350"/>
              </a:xfrm>
              <a:custGeom>
                <a:avLst/>
                <a:gdLst>
                  <a:gd name="T0" fmla="*/ 0 w 288"/>
                  <a:gd name="T1" fmla="*/ 151 h 432"/>
                  <a:gd name="T2" fmla="*/ 84 w 288"/>
                  <a:gd name="T3" fmla="*/ 134 h 432"/>
                  <a:gd name="T4" fmla="*/ 125 w 288"/>
                  <a:gd name="T5" fmla="*/ 67 h 432"/>
                  <a:gd name="T6" fmla="*/ 84 w 288"/>
                  <a:gd name="T7" fmla="*/ 0 h 4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8" h="432">
                    <a:moveTo>
                      <a:pt x="0" y="432"/>
                    </a:moveTo>
                    <a:cubicBezTo>
                      <a:pt x="72" y="428"/>
                      <a:pt x="144" y="424"/>
                      <a:pt x="192" y="384"/>
                    </a:cubicBezTo>
                    <a:cubicBezTo>
                      <a:pt x="240" y="344"/>
                      <a:pt x="288" y="256"/>
                      <a:pt x="288" y="192"/>
                    </a:cubicBezTo>
                    <a:cubicBezTo>
                      <a:pt x="288" y="128"/>
                      <a:pt x="216" y="32"/>
                      <a:pt x="192" y="0"/>
                    </a:cubicBezTo>
                  </a:path>
                </a:pathLst>
              </a:custGeom>
              <a:noFill/>
              <a:ln w="12700" cap="flat" cmpd="sng">
                <a:solidFill>
                  <a:schemeClr val="tx2"/>
                </a:solidFill>
                <a:prstDash val="solid"/>
                <a:round/>
                <a:headEnd type="none" w="sm" len="sm"/>
                <a:tailEnd type="stealth" w="med" len="lg"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325" name="Text Box 15"/>
              <p:cNvSpPr txBox="1">
                <a:spLocks noChangeArrowheads="1"/>
              </p:cNvSpPr>
              <p:nvPr/>
            </p:nvSpPr>
            <p:spPr bwMode="auto">
              <a:xfrm rot="49736">
                <a:off x="2425" y="2628"/>
                <a:ext cx="34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Math C" pitchFamily="2" charset="2"/>
                  </a:rPr>
                  <a:t>ω</a:t>
                </a:r>
                <a:endParaRPr kumimoji="1" lang="zh-CN" altLang="en-US" sz="2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  <a:sym typeface="Math C" pitchFamily="2" charset="2"/>
                </a:endParaRPr>
              </a:p>
            </p:txBody>
          </p:sp>
          <p:sp>
            <p:nvSpPr>
              <p:cNvPr id="13326" name="Text Box 16"/>
              <p:cNvSpPr txBox="1">
                <a:spLocks noChangeArrowheads="1"/>
              </p:cNvSpPr>
              <p:nvPr/>
            </p:nvSpPr>
            <p:spPr bwMode="auto">
              <a:xfrm>
                <a:off x="2293" y="2972"/>
                <a:ext cx="24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1" u="none" strike="noStrike" kern="1200" cap="none" spc="0" normalizeH="0" baseline="0" noProof="0">
                    <a:ln>
                      <a:noFill/>
                    </a:ln>
                    <a:solidFill>
                      <a:srgbClr val="CC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O</a:t>
                </a:r>
                <a:endParaRPr kumimoji="1" lang="en-US" altLang="zh-CN" sz="2400" b="0" i="1" u="none" strike="noStrike" kern="1200" cap="none" spc="0" normalizeH="0" baseline="0" noProof="0">
                  <a:ln>
                    <a:noFill/>
                  </a:ln>
                  <a:solidFill>
                    <a:srgbClr val="CC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grpSp>
            <p:nvGrpSpPr>
              <p:cNvPr id="13327" name="Group 17"/>
              <p:cNvGrpSpPr/>
              <p:nvPr/>
            </p:nvGrpSpPr>
            <p:grpSpPr bwMode="auto">
              <a:xfrm>
                <a:off x="2917" y="2763"/>
                <a:ext cx="420" cy="798"/>
                <a:chOff x="2054" y="2889"/>
                <a:chExt cx="420" cy="798"/>
              </a:xfrm>
            </p:grpSpPr>
            <p:grpSp>
              <p:nvGrpSpPr>
                <p:cNvPr id="13328" name="Group 18"/>
                <p:cNvGrpSpPr/>
                <p:nvPr/>
              </p:nvGrpSpPr>
              <p:grpSpPr bwMode="auto">
                <a:xfrm>
                  <a:off x="2054" y="3120"/>
                  <a:ext cx="420" cy="567"/>
                  <a:chOff x="2054" y="3120"/>
                  <a:chExt cx="420" cy="567"/>
                </a:xfrm>
              </p:grpSpPr>
              <p:grpSp>
                <p:nvGrpSpPr>
                  <p:cNvPr id="13330" name="Group 19"/>
                  <p:cNvGrpSpPr/>
                  <p:nvPr/>
                </p:nvGrpSpPr>
                <p:grpSpPr bwMode="auto">
                  <a:xfrm>
                    <a:off x="2054" y="3206"/>
                    <a:ext cx="420" cy="481"/>
                    <a:chOff x="2054" y="3206"/>
                    <a:chExt cx="420" cy="481"/>
                  </a:xfrm>
                </p:grpSpPr>
                <p:sp>
                  <p:nvSpPr>
                    <p:cNvPr id="13332" name="Line 2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160" y="3206"/>
                      <a:ext cx="96" cy="28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FF0000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3333" name="Text Box 2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054" y="3435"/>
                      <a:ext cx="420" cy="25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>
                          <a:solidFill>
                            <a:schemeClr val="tx1"/>
                          </a:solidFill>
                          <a:miter lim="800000"/>
                          <a:headEnd type="none" w="sm" len="sm"/>
                          <a:tailEnd type="none" w="sm" len="sm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+mn-cs"/>
                        </a:rPr>
                        <a:t>质点</a:t>
                      </a:r>
                      <a:endParaRPr kumimoji="1" lang="zh-CN" altLang="en-US" sz="2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黑体" panose="02010609060101010101" pitchFamily="49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13331" name="Oval 22"/>
                  <p:cNvSpPr>
                    <a:spLocks noChangeArrowheads="1"/>
                  </p:cNvSpPr>
                  <p:nvPr/>
                </p:nvSpPr>
                <p:spPr bwMode="auto">
                  <a:xfrm>
                    <a:off x="2112" y="3120"/>
                    <a:ext cx="96" cy="96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黑体" panose="02010609060101010101" pitchFamily="49" charset="-122"/>
                      <a:cs typeface="+mn-cs"/>
                    </a:endParaRPr>
                  </a:p>
                </p:txBody>
              </p:sp>
            </p:grpSp>
            <p:sp>
              <p:nvSpPr>
                <p:cNvPr id="13329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2054" y="2889"/>
                  <a:ext cx="20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2000" b="0" i="1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黑体" panose="02010609060101010101" pitchFamily="49" charset="-122"/>
                      <a:cs typeface="+mn-cs"/>
                    </a:rPr>
                    <a:t>P</a:t>
                  </a:r>
                  <a:endParaRPr kumimoji="1" lang="en-US" altLang="zh-CN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endParaRPr>
                </a:p>
              </p:txBody>
            </p:sp>
          </p:grpSp>
        </p:grpSp>
        <p:grpSp>
          <p:nvGrpSpPr>
            <p:cNvPr id="13318" name="Group 24"/>
            <p:cNvGrpSpPr/>
            <p:nvPr/>
          </p:nvGrpSpPr>
          <p:grpSpPr bwMode="auto">
            <a:xfrm>
              <a:off x="3061" y="2754"/>
              <a:ext cx="432" cy="288"/>
              <a:chOff x="2208" y="2880"/>
              <a:chExt cx="432" cy="288"/>
            </a:xfrm>
          </p:grpSpPr>
          <p:sp>
            <p:nvSpPr>
              <p:cNvPr id="13319" name="Line 25"/>
              <p:cNvSpPr>
                <a:spLocks noChangeShapeType="1"/>
              </p:cNvSpPr>
              <p:nvPr/>
            </p:nvSpPr>
            <p:spPr bwMode="auto">
              <a:xfrm>
                <a:off x="2208" y="3168"/>
                <a:ext cx="336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none" w="sm" len="sm"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320" name="Text Box 26"/>
              <p:cNvSpPr txBox="1">
                <a:spLocks noChangeArrowheads="1"/>
              </p:cNvSpPr>
              <p:nvPr/>
            </p:nvSpPr>
            <p:spPr bwMode="auto">
              <a:xfrm>
                <a:off x="2414" y="2880"/>
                <a:ext cx="22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FFFF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0" i="1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u</a:t>
                </a:r>
                <a:endParaRPr kumimoji="1" lang="en-US" altLang="zh-CN" sz="2400" b="0" i="1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3563888" y="2415615"/>
            <a:ext cx="3902395" cy="1554638"/>
            <a:chOff x="3563888" y="2415615"/>
            <a:chExt cx="3902395" cy="1554638"/>
          </a:xfrm>
        </p:grpSpPr>
        <p:cxnSp>
          <p:nvCxnSpPr>
            <p:cNvPr id="3" name="直接箭头连接符 2"/>
            <p:cNvCxnSpPr/>
            <p:nvPr/>
          </p:nvCxnSpPr>
          <p:spPr bwMode="auto">
            <a:xfrm>
              <a:off x="3563888" y="3645024"/>
              <a:ext cx="3098552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" name="直接箭头连接符 52"/>
            <p:cNvCxnSpPr/>
            <p:nvPr/>
          </p:nvCxnSpPr>
          <p:spPr bwMode="auto">
            <a:xfrm rot="16200000">
              <a:off x="3024347" y="3084964"/>
              <a:ext cx="1080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矩形 3"/>
                <p:cNvSpPr/>
                <p:nvPr/>
              </p:nvSpPr>
              <p:spPr>
                <a:xfrm>
                  <a:off x="6756922" y="3508588"/>
                  <a:ext cx="709361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𝜉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" name="矩形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6922" y="3508588"/>
                  <a:ext cx="709361" cy="461665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矩形 54"/>
                <p:cNvSpPr/>
                <p:nvPr/>
              </p:nvSpPr>
              <p:spPr>
                <a:xfrm>
                  <a:off x="3573127" y="2415615"/>
                  <a:ext cx="72314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𝜂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55" name="矩形 5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3127" y="2415615"/>
                  <a:ext cx="723147" cy="461665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7650" name="Text Box 3"/>
              <p:cNvSpPr txBox="1">
                <a:spLocks noChangeArrowheads="1"/>
              </p:cNvSpPr>
              <p:nvPr/>
            </p:nvSpPr>
            <p:spPr bwMode="auto">
              <a:xfrm>
                <a:off x="41734" y="91678"/>
                <a:ext cx="8908132" cy="28629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2075" tIns="46038" rIns="92075" bIns="46038" anchor="t" anchorCtr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例</a:t>
                </a:r>
                <a:r>
                  <a:rPr kumimoji="0" lang="en-US" altLang="zh-CN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2</a:t>
                </a:r>
                <a:r>
                  <a:rPr kumimoji="0" lang="zh-CN" altLang="en-US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：</a:t>
                </a:r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一根直线 在 </a:t>
                </a:r>
                <a:r>
                  <a:rPr kumimoji="0" lang="en-US" altLang="zh-CN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oxy</a:t>
                </a:r>
                <a:r>
                  <a:rPr kumimoji="0" lang="en-US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平面内以匀角速度</a:t>
                </a:r>
                <a:r>
                  <a:rPr kumimoji="0" lang="en-US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ω</a:t>
                </a:r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绕</a:t>
                </a:r>
                <a:r>
                  <a:rPr kumimoji="0" lang="en-US" altLang="zh-CN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O</a:t>
                </a:r>
                <a:r>
                  <a:rPr kumimoji="0" lang="en-US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转动，当直管位于</a:t>
                </a:r>
                <a:r>
                  <a:rPr kumimoji="0" lang="en-US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ox</a:t>
                </a:r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的位置时，有一质点</a:t>
                </a:r>
                <a:r>
                  <a:rPr kumimoji="0" lang="en-US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P </a:t>
                </a:r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开始从</a:t>
                </a:r>
                <a:r>
                  <a:rPr kumimoji="0" lang="en-US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o</a:t>
                </a:r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点沿该直线运动</a:t>
                </a:r>
                <a:r>
                  <a:rPr kumimoji="0" lang="en-US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。</a:t>
                </a:r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欲使此点的绝对速度</a:t>
                </a:r>
                <a:r>
                  <a:rPr kumimoji="0" lang="en-US" altLang="zh-CN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v </a:t>
                </a:r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的量值为常数，问此点应按何种规律沿此直线运动？</a:t>
                </a:r>
                <a:endPara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b="1" dirty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解答：</a:t>
                </a:r>
                <a:r>
                  <a:rPr kumimoji="0" lang="zh-CN" altLang="en-US" dirty="0">
                    <a:solidFill>
                      <a:srgbClr val="000000"/>
                    </a:solidFill>
                    <a:ea typeface="黑体" panose="02010609060101010101" pitchFamily="49" charset="-122"/>
                  </a:rPr>
                  <a:t>假定质点沿管速度为</a:t>
                </a:r>
                <a14:m>
                  <m:oMath xmlns:m="http://schemas.openxmlformats.org/officeDocument/2006/math">
                    <m:r>
                      <a:rPr kumimoji="0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𝑢</m:t>
                    </m:r>
                  </m:oMath>
                </a14:m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，根据上题，</a:t>
                </a:r>
                <a:endPara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lvl="0" eaLnBrk="1" hangingPunct="1">
                  <a:lnSpc>
                    <a:spcPct val="15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en-US" altLang="zh-CN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altLang="zh-CN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𝑣</m:t>
                          </m:r>
                        </m:e>
                      </m:acc>
                      <m:r>
                        <a:rPr kumimoji="0" lang="en-US" altLang="zh-CN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r>
                        <a:rPr lang="en-US" altLang="zh-CN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𝑢</m:t>
                      </m:r>
                      <m:acc>
                        <m:accPr>
                          <m:chr m:val="⃗"/>
                          <m:ctrlPr>
                            <a:rPr lang="en-US" altLang="zh-CN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e>
                      </m:acc>
                      <m:r>
                        <a:rPr lang="en-US" altLang="zh-CN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lang="en-US" altLang="zh-CN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𝜔</m:t>
                      </m:r>
                      <m:r>
                        <a:rPr lang="en-US" altLang="zh-CN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𝑟</m:t>
                      </m:r>
                      <m:acc>
                        <m:accPr>
                          <m:chr m:val="⃗"/>
                          <m:ctrlPr>
                            <a:rPr lang="en-US" altLang="zh-CN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e>
                      </m:acc>
                      <m:r>
                        <a:rPr lang="en-US" altLang="zh-CN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US" altLang="zh-CN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</m:acc>
                      <m:acc>
                        <m:accPr>
                          <m:chr m:val="⃗"/>
                          <m:ctrlPr>
                            <a:rPr lang="en-US" altLang="zh-CN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e>
                      </m:acc>
                      <m:r>
                        <a:rPr lang="en-US" altLang="zh-CN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lang="en-US" altLang="zh-CN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𝜔</m:t>
                      </m:r>
                      <m:r>
                        <a:rPr lang="en-US" altLang="zh-CN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𝑟</m:t>
                      </m:r>
                      <m:acc>
                        <m:accPr>
                          <m:chr m:val="⃗"/>
                          <m:ctrlPr>
                            <a:rPr lang="en-US" altLang="zh-CN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e>
                      </m:acc>
                    </m:oMath>
                  </m:oMathPara>
                </a14:m>
                <a:endPara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>
          <p:sp>
            <p:nvSpPr>
              <p:cNvPr id="27650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734" y="91678"/>
                <a:ext cx="8908132" cy="2862964"/>
              </a:xfrm>
              <a:prstGeom prst="rect">
                <a:avLst/>
              </a:prstGeom>
              <a:blipFill rotWithShape="1">
                <a:blip r:embed="rId1"/>
                <a:stretch>
                  <a:fillRect l="-5" t="-8" r="2" b="22"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652" name="Group 5"/>
          <p:cNvGrpSpPr/>
          <p:nvPr/>
        </p:nvGrpSpPr>
        <p:grpSpPr bwMode="auto">
          <a:xfrm>
            <a:off x="5652120" y="2924944"/>
            <a:ext cx="3132187" cy="2095004"/>
            <a:chOff x="1344" y="2147"/>
            <a:chExt cx="2874" cy="1877"/>
          </a:xfrm>
        </p:grpSpPr>
        <p:sp>
          <p:nvSpPr>
            <p:cNvPr id="27653" name="Text Box 6"/>
            <p:cNvSpPr txBox="1">
              <a:spLocks noChangeArrowheads="1"/>
            </p:cNvSpPr>
            <p:nvPr/>
          </p:nvSpPr>
          <p:spPr bwMode="auto">
            <a:xfrm>
              <a:off x="3509" y="3527"/>
              <a:ext cx="24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x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7654" name="Rectangle 7"/>
            <p:cNvSpPr>
              <a:spLocks noChangeArrowheads="1"/>
            </p:cNvSpPr>
            <p:nvPr/>
          </p:nvSpPr>
          <p:spPr bwMode="auto">
            <a:xfrm rot="3331263">
              <a:off x="2939" y="2239"/>
              <a:ext cx="72" cy="16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7655" name="Rectangle 8" descr="深色上对角线"/>
            <p:cNvSpPr>
              <a:spLocks noChangeArrowheads="1"/>
            </p:cNvSpPr>
            <p:nvPr/>
          </p:nvSpPr>
          <p:spPr bwMode="auto">
            <a:xfrm>
              <a:off x="2079" y="3737"/>
              <a:ext cx="336" cy="9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7656" name="Line 9"/>
            <p:cNvSpPr>
              <a:spLocks noChangeShapeType="1"/>
            </p:cNvSpPr>
            <p:nvPr/>
          </p:nvSpPr>
          <p:spPr bwMode="auto">
            <a:xfrm flipV="1">
              <a:off x="2262" y="2345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657" name="Line 10"/>
            <p:cNvSpPr>
              <a:spLocks noChangeShapeType="1"/>
            </p:cNvSpPr>
            <p:nvPr/>
          </p:nvSpPr>
          <p:spPr bwMode="auto">
            <a:xfrm>
              <a:off x="2310" y="3545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658" name="Text Box 11"/>
            <p:cNvSpPr txBox="1">
              <a:spLocks noChangeArrowheads="1"/>
            </p:cNvSpPr>
            <p:nvPr/>
          </p:nvSpPr>
          <p:spPr bwMode="auto">
            <a:xfrm>
              <a:off x="2073" y="2147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y</a:t>
              </a:r>
              <a:endPara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7659" name="Oval 12"/>
            <p:cNvSpPr>
              <a:spLocks noChangeArrowheads="1"/>
            </p:cNvSpPr>
            <p:nvPr/>
          </p:nvSpPr>
          <p:spPr bwMode="auto">
            <a:xfrm>
              <a:off x="2934" y="3017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7660" name="Arc 13"/>
            <p:cNvSpPr/>
            <p:nvPr/>
          </p:nvSpPr>
          <p:spPr bwMode="auto">
            <a:xfrm flipV="1">
              <a:off x="2112" y="3264"/>
              <a:ext cx="480" cy="760"/>
            </a:xfrm>
            <a:custGeom>
              <a:avLst/>
              <a:gdLst>
                <a:gd name="T0" fmla="*/ 0 w 20669"/>
                <a:gd name="T1" fmla="*/ 0 h 20020"/>
                <a:gd name="T2" fmla="*/ 0 w 20669"/>
                <a:gd name="T3" fmla="*/ 0 h 20020"/>
                <a:gd name="T4" fmla="*/ 0 w 20669"/>
                <a:gd name="T5" fmla="*/ 0 h 200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669" h="20020" fill="none" extrusionOk="0">
                  <a:moveTo>
                    <a:pt x="20669" y="6273"/>
                  </a:moveTo>
                  <a:cubicBezTo>
                    <a:pt x="18773" y="12517"/>
                    <a:pt x="14157" y="17570"/>
                    <a:pt x="8109" y="20020"/>
                  </a:cubicBezTo>
                </a:path>
                <a:path w="20669" h="20020" stroke="0" extrusionOk="0">
                  <a:moveTo>
                    <a:pt x="20669" y="6273"/>
                  </a:moveTo>
                  <a:cubicBezTo>
                    <a:pt x="18773" y="12517"/>
                    <a:pt x="14157" y="17570"/>
                    <a:pt x="8109" y="20020"/>
                  </a:cubicBezTo>
                  <a:lnTo>
                    <a:pt x="0" y="0"/>
                  </a:lnTo>
                  <a:lnTo>
                    <a:pt x="20669" y="62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661" name="Line 14"/>
            <p:cNvSpPr>
              <a:spLocks noChangeShapeType="1"/>
            </p:cNvSpPr>
            <p:nvPr/>
          </p:nvSpPr>
          <p:spPr bwMode="auto">
            <a:xfrm flipH="1" flipV="1">
              <a:off x="2742" y="2681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662" name="Line 15"/>
            <p:cNvSpPr>
              <a:spLocks noChangeShapeType="1"/>
            </p:cNvSpPr>
            <p:nvPr/>
          </p:nvSpPr>
          <p:spPr bwMode="auto">
            <a:xfrm flipV="1">
              <a:off x="2550" y="2777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663" name="Line 16"/>
            <p:cNvSpPr>
              <a:spLocks noChangeShapeType="1"/>
            </p:cNvSpPr>
            <p:nvPr/>
          </p:nvSpPr>
          <p:spPr bwMode="auto">
            <a:xfrm flipH="1">
              <a:off x="2118" y="3065"/>
              <a:ext cx="24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664" name="Text Box 17"/>
            <p:cNvSpPr txBox="1">
              <a:spLocks noChangeArrowheads="1"/>
            </p:cNvSpPr>
            <p:nvPr/>
          </p:nvSpPr>
          <p:spPr bwMode="auto">
            <a:xfrm>
              <a:off x="2001" y="336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O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7665" name="Text Box 18"/>
            <p:cNvSpPr txBox="1">
              <a:spLocks noChangeArrowheads="1"/>
            </p:cNvSpPr>
            <p:nvPr/>
          </p:nvSpPr>
          <p:spPr bwMode="auto">
            <a:xfrm>
              <a:off x="2832" y="26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P</a:t>
              </a:r>
              <a:endPara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7666" name="Line 19"/>
            <p:cNvSpPr>
              <a:spLocks noChangeShapeType="1"/>
            </p:cNvSpPr>
            <p:nvPr/>
          </p:nvSpPr>
          <p:spPr bwMode="auto">
            <a:xfrm flipV="1">
              <a:off x="2262" y="3305"/>
              <a:ext cx="336" cy="24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667" name="Line 20"/>
            <p:cNvSpPr>
              <a:spLocks noChangeShapeType="1"/>
            </p:cNvSpPr>
            <p:nvPr/>
          </p:nvSpPr>
          <p:spPr bwMode="auto">
            <a:xfrm flipH="1" flipV="1">
              <a:off x="2022" y="3161"/>
              <a:ext cx="240" cy="384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668" name="Line 21"/>
            <p:cNvSpPr>
              <a:spLocks noChangeShapeType="1"/>
            </p:cNvSpPr>
            <p:nvPr/>
          </p:nvSpPr>
          <p:spPr bwMode="auto">
            <a:xfrm flipH="1">
              <a:off x="2118" y="3545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669" name="Line 22"/>
            <p:cNvSpPr>
              <a:spLocks noChangeShapeType="1"/>
            </p:cNvSpPr>
            <p:nvPr/>
          </p:nvSpPr>
          <p:spPr bwMode="auto">
            <a:xfrm>
              <a:off x="2284" y="3550"/>
              <a:ext cx="78" cy="1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670" name="Oval 23"/>
            <p:cNvSpPr>
              <a:spLocks noChangeArrowheads="1"/>
            </p:cNvSpPr>
            <p:nvPr/>
          </p:nvSpPr>
          <p:spPr bwMode="auto">
            <a:xfrm>
              <a:off x="2214" y="3497"/>
              <a:ext cx="96" cy="96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graphicFrame>
          <p:nvGraphicFramePr>
            <p:cNvPr id="27671" name="Object 24"/>
            <p:cNvGraphicFramePr>
              <a:graphicFrameLocks noChangeAspect="1"/>
            </p:cNvGraphicFramePr>
            <p:nvPr/>
          </p:nvGraphicFramePr>
          <p:xfrm>
            <a:off x="2640" y="3504"/>
            <a:ext cx="336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58" name="Equation" r:id="rId3" imgW="3657600" imgH="3352800" progId="Equation.3">
                    <p:embed/>
                  </p:oleObj>
                </mc:Choice>
                <mc:Fallback>
                  <p:oleObj name="Equation" r:id="rId3" imgW="3657600" imgH="335280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3504"/>
                          <a:ext cx="336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2" name="Object 25"/>
            <p:cNvGraphicFramePr>
              <a:graphicFrameLocks noChangeAspect="1"/>
            </p:cNvGraphicFramePr>
            <p:nvPr/>
          </p:nvGraphicFramePr>
          <p:xfrm>
            <a:off x="2352" y="2832"/>
            <a:ext cx="258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59" name="Equation" r:id="rId5" imgW="3048000" imgH="3352800" progId="Equation.3">
                    <p:embed/>
                  </p:oleObj>
                </mc:Choice>
                <mc:Fallback>
                  <p:oleObj name="Equation" r:id="rId5" imgW="3048000" imgH="335280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2832"/>
                          <a:ext cx="258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73" name="Line 26"/>
            <p:cNvSpPr>
              <a:spLocks noChangeShapeType="1"/>
            </p:cNvSpPr>
            <p:nvPr/>
          </p:nvSpPr>
          <p:spPr bwMode="auto">
            <a:xfrm flipV="1">
              <a:off x="2256" y="2352"/>
              <a:ext cx="1728" cy="1200"/>
            </a:xfrm>
            <a:prstGeom prst="line">
              <a:avLst/>
            </a:prstGeom>
            <a:noFill/>
            <a:ln w="9525">
              <a:solidFill>
                <a:srgbClr val="FF505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674" name="Line 27"/>
            <p:cNvSpPr>
              <a:spLocks noChangeShapeType="1"/>
            </p:cNvSpPr>
            <p:nvPr/>
          </p:nvSpPr>
          <p:spPr bwMode="auto">
            <a:xfrm flipH="1" flipV="1">
              <a:off x="1632" y="2640"/>
              <a:ext cx="624" cy="912"/>
            </a:xfrm>
            <a:prstGeom prst="line">
              <a:avLst/>
            </a:prstGeom>
            <a:noFill/>
            <a:ln w="9525">
              <a:solidFill>
                <a:srgbClr val="FF505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7675" name="Object 28"/>
            <p:cNvGraphicFramePr>
              <a:graphicFrameLocks noChangeAspect="1"/>
            </p:cNvGraphicFramePr>
            <p:nvPr/>
          </p:nvGraphicFramePr>
          <p:xfrm>
            <a:off x="4032" y="2256"/>
            <a:ext cx="18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60" name="Equation" r:id="rId7" imgW="3962400" imgH="4267200" progId="Equation.3">
                    <p:embed/>
                  </p:oleObj>
                </mc:Choice>
                <mc:Fallback>
                  <p:oleObj name="Equation" r:id="rId7" imgW="3962400" imgH="426720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2256"/>
                          <a:ext cx="186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6" name="Object 29"/>
            <p:cNvGraphicFramePr>
              <a:graphicFrameLocks noChangeAspect="1"/>
            </p:cNvGraphicFramePr>
            <p:nvPr/>
          </p:nvGraphicFramePr>
          <p:xfrm>
            <a:off x="1344" y="2496"/>
            <a:ext cx="247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61" name="Equation" r:id="rId9" imgW="3962400" imgH="4876800" progId="Equation.3">
                    <p:embed/>
                  </p:oleObj>
                </mc:Choice>
                <mc:Fallback>
                  <p:oleObj name="Equation" r:id="rId9" imgW="3962400" imgH="487680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2496"/>
                          <a:ext cx="247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26724" y="2971349"/>
                <a:ext cx="5616102" cy="368780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lvl="0" eaLnBrk="1" hangingPunct="1">
                  <a:lnSpc>
                    <a:spcPct val="150000"/>
                  </a:lnSpc>
                  <a:spcBef>
                    <a:spcPts val="0"/>
                  </a:spcBef>
                </a:pPr>
                <a:r>
                  <a:rPr kumimoji="0" lang="zh-CN" altLang="en-US" dirty="0">
                    <a:solidFill>
                      <a:srgbClr val="000000"/>
                    </a:solidFill>
                    <a:ea typeface="黑体" panose="02010609060101010101" pitchFamily="49" charset="-122"/>
                  </a:rPr>
                  <a:t>要想让质点速度为常数，需要 </a:t>
                </a:r>
                <a:endParaRPr kumimoji="0" lang="en-US" altLang="zh-CN" dirty="0">
                  <a:solidFill>
                    <a:srgbClr val="000000"/>
                  </a:solidFill>
                  <a:ea typeface="黑体" panose="02010609060101010101" pitchFamily="49" charset="-122"/>
                </a:endParaRPr>
              </a:p>
              <a:p>
                <a:pPr lvl="0" eaLnBrk="1" hangingPunct="1">
                  <a:lnSpc>
                    <a:spcPct val="15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kumimoji="0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kumimoji="0" lang="en-US" altLang="zh-CN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𝑟</m:t>
                              </m:r>
                            </m:e>
                          </m:acc>
                        </m:e>
                        <m:sup>
                          <m:r>
                            <a:rPr kumimoji="0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0"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0"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0"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p>
                          <m:r>
                            <a:rPr kumimoji="0"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kumimoji="0"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0"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  <m:sup>
                          <m:r>
                            <a:rPr kumimoji="0"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0"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0"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0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𝑐</m:t>
                          </m:r>
                        </m:e>
                        <m:sup>
                          <m:r>
                            <a:rPr kumimoji="0"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0" lang="en-US" altLang="zh-CN" dirty="0">
                  <a:solidFill>
                    <a:srgbClr val="000000"/>
                  </a:solidFill>
                  <a:ea typeface="黑体" panose="02010609060101010101" pitchFamily="49" charset="-122"/>
                </a:endParaRPr>
              </a:p>
              <a:p>
                <a:pPr lvl="0" eaLnBrk="1" hangingPunct="1"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kumimoji="0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kumimoji="0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</m:acc>
                      <m:r>
                        <a:rPr kumimoji="0" lang="en-US" altLang="zh-CN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0" lang="en-US" altLang="zh-CN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0" lang="en-US" altLang="zh-CN" b="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0" lang="en-US" altLang="zh-CN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0" lang="en-US" altLang="zh-CN" b="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0" lang="en-US" altLang="zh-CN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0"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0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0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0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𝑐</m:t>
                              </m:r>
                            </m:e>
                            <m:sup>
                              <m:r>
                                <a:rPr kumimoji="0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sSup>
                            <m:sSupPr>
                              <m:ctrlPr>
                                <a:rPr kumimoji="0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0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𝜔</m:t>
                              </m:r>
                            </m:e>
                            <m:sup>
                              <m:r>
                                <a:rPr kumimoji="0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0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0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𝑟</m:t>
                              </m:r>
                            </m:e>
                            <m:sup>
                              <m:r>
                                <a:rPr kumimoji="0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kumimoji="0" lang="en-US" altLang="zh-CN" b="0" dirty="0">
                  <a:solidFill>
                    <a:srgbClr val="000000"/>
                  </a:solidFill>
                  <a:ea typeface="黑体" panose="02010609060101010101" pitchFamily="49" charset="-122"/>
                </a:endParaRPr>
              </a:p>
              <a:p>
                <a:pPr lvl="0" eaLnBrk="1" hangingPunct="1"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𝑡</m:t>
                      </m:r>
                      <m:r>
                        <a:rPr kumimoji="0"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kumimoji="0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kumimoji="0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kumimoji="0" lang="en-US" altLang="zh-CN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0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𝑟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kumimoji="0"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kumimoji="0" lang="en-US" altLang="zh-CN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altLang="zh-CN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𝑐</m:t>
                                      </m:r>
                                    </m:e>
                                    <m:sup>
                                      <m:r>
                                        <a:rPr kumimoji="0" lang="en-US" altLang="zh-CN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kumimoji="0" lang="en-US" altLang="zh-CN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kumimoji="0" lang="en-US" altLang="zh-CN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altLang="zh-CN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𝜔</m:t>
                                      </m:r>
                                    </m:e>
                                    <m:sup>
                                      <m:r>
                                        <a:rPr kumimoji="0" lang="en-US" altLang="zh-CN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kumimoji="0" lang="en-US" altLang="zh-CN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altLang="zh-CN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a:rPr kumimoji="0" lang="en-US" altLang="zh-CN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nary>
                      <m:r>
                        <a:rPr kumimoji="0"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0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0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den>
                      </m:f>
                      <m:func>
                        <m:funcPr>
                          <m:ctrlPr>
                            <a:rPr kumimoji="0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CN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arcsin</m:t>
                          </m:r>
                        </m:fName>
                        <m:e>
                          <m:f>
                            <m:fPr>
                              <m:ctrlPr>
                                <a:rPr kumimoji="0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0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𝜔</m:t>
                              </m:r>
                              <m:r>
                                <a:rPr kumimoji="0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𝑟</m:t>
                              </m:r>
                            </m:num>
                            <m:den>
                              <m:r>
                                <a:rPr kumimoji="0"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𝑐</m:t>
                              </m:r>
                            </m:den>
                          </m:f>
                        </m:e>
                      </m:func>
                      <m:r>
                        <a:rPr kumimoji="0"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kumimoji="0"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𝐶</m:t>
                      </m:r>
                    </m:oMath>
                  </m:oMathPara>
                </a14:m>
                <a:endParaRPr kumimoji="0" lang="en-US" altLang="zh-CN" b="0" dirty="0">
                  <a:solidFill>
                    <a:srgbClr val="000000"/>
                  </a:solidFill>
                  <a:ea typeface="黑体" panose="02010609060101010101" pitchFamily="49" charset="-122"/>
                </a:endParaRPr>
              </a:p>
              <a:p>
                <a:pPr lvl="0" eaLnBrk="1" hangingPunct="1">
                  <a:spcBef>
                    <a:spcPts val="0"/>
                  </a:spcBef>
                </a:pPr>
                <a:r>
                  <a:rPr kumimoji="0" lang="zh-CN" altLang="en-US" dirty="0">
                    <a:solidFill>
                      <a:srgbClr val="000000"/>
                    </a:solidFill>
                    <a:ea typeface="黑体" panose="02010609060101010101" pitchFamily="49" charset="-122"/>
                  </a:rPr>
                  <a:t>初条件确定</a:t>
                </a:r>
                <a14:m>
                  <m:oMath xmlns:m="http://schemas.openxmlformats.org/officeDocument/2006/math">
                    <m:r>
                      <a:rPr kumimoji="0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𝐶</m:t>
                    </m:r>
                    <m:r>
                      <a:rPr kumimoji="0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kumimoji="0"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0</m:t>
                    </m:r>
                  </m:oMath>
                </a14:m>
                <a:r>
                  <a:rPr kumimoji="0" lang="zh-CN" altLang="en-US" dirty="0">
                    <a:solidFill>
                      <a:srgbClr val="000000"/>
                    </a:solidFill>
                    <a:ea typeface="黑体" panose="02010609060101010101" pitchFamily="49" charset="-122"/>
                  </a:rPr>
                  <a:t>，故</a:t>
                </a:r>
                <a:endParaRPr kumimoji="0" lang="en-US" altLang="zh-CN" dirty="0">
                  <a:solidFill>
                    <a:srgbClr val="000000"/>
                  </a:solidFill>
                  <a:ea typeface="黑体" panose="02010609060101010101" pitchFamily="49" charset="-122"/>
                </a:endParaRPr>
              </a:p>
              <a:p>
                <a:pPr lvl="0" eaLnBrk="1" hangingPunct="1"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𝑟</m:t>
                      </m:r>
                      <m:r>
                        <a:rPr kumimoji="0"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0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0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𝑐</m:t>
                          </m:r>
                        </m:num>
                        <m:den>
                          <m:r>
                            <a:rPr kumimoji="0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den>
                      </m:f>
                      <m:func>
                        <m:funcPr>
                          <m:ctrlPr>
                            <a:rPr kumimoji="0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CN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0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  <m:r>
                            <a:rPr kumimoji="0"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kumimoji="0" lang="en-US" altLang="zh-CN" dirty="0">
                  <a:solidFill>
                    <a:srgbClr val="000000"/>
                  </a:solidFill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4" y="2971349"/>
                <a:ext cx="5616102" cy="3687804"/>
              </a:xfrm>
              <a:prstGeom prst="rect">
                <a:avLst/>
              </a:prstGeom>
              <a:blipFill rotWithShape="1">
                <a:blip r:embed="rId11"/>
                <a:stretch>
                  <a:fillRect l="-1" t="-5" r="4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ChangeArrowheads="1"/>
          </p:cNvSpPr>
          <p:nvPr/>
        </p:nvSpPr>
        <p:spPr bwMode="auto">
          <a:xfrm>
            <a:off x="107504" y="331854"/>
            <a:ext cx="8640872" cy="113024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例</a:t>
            </a:r>
            <a:r>
              <a:rPr kumimoji="0" lang="en-US" altLang="zh-CN" dirty="0">
                <a:solidFill>
                  <a:srgbClr val="FF0000"/>
                </a:solidFill>
                <a:ea typeface="黑体" panose="02010609060101010101" pitchFamily="49" charset="-122"/>
              </a:rPr>
              <a:t>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：离心调速器的振动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离心调速器：最古老的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自动控制系统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1535799"/>
            <a:ext cx="4762500" cy="3429000"/>
          </a:xfrm>
          <a:prstGeom prst="rect">
            <a:avLst/>
          </a:prstGeom>
        </p:spPr>
      </p:pic>
      <p:sp>
        <p:nvSpPr>
          <p:cNvPr id="5" name="弧形 4"/>
          <p:cNvSpPr/>
          <p:nvPr/>
        </p:nvSpPr>
        <p:spPr bwMode="auto">
          <a:xfrm>
            <a:off x="4788024" y="2852936"/>
            <a:ext cx="1584176" cy="370057"/>
          </a:xfrm>
          <a:prstGeom prst="arc">
            <a:avLst>
              <a:gd name="adj1" fmla="val 19589113"/>
              <a:gd name="adj2" fmla="val 12597388"/>
            </a:avLst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8" name="直接箭头连接符 7"/>
          <p:cNvCxnSpPr/>
          <p:nvPr/>
        </p:nvCxnSpPr>
        <p:spPr bwMode="auto">
          <a:xfrm flipH="1">
            <a:off x="4932040" y="4653136"/>
            <a:ext cx="2808312" cy="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5155565" y="4815498"/>
            <a:ext cx="3019306" cy="576248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流体驱动调速器转动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>
                <a:spLocks noChangeArrowheads="1"/>
              </p:cNvSpPr>
              <p:nvPr/>
            </p:nvSpPr>
            <p:spPr bwMode="auto">
              <a:xfrm>
                <a:off x="22258" y="1916832"/>
                <a:ext cx="4608512" cy="27922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t" anchorCtr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流速增大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⟹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𝜔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增大，离心力增大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⟹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连杆系统关小阀门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⟹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流速减小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反之亦成立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⟹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小球质量固定时，若调速器处于相对平衡，则流速为常数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58" y="1916832"/>
                <a:ext cx="4608512" cy="2792239"/>
              </a:xfrm>
              <a:prstGeom prst="rect">
                <a:avLst/>
              </a:prstGeom>
              <a:blipFill rotWithShape="1">
                <a:blip r:embed="rId2"/>
                <a:stretch>
                  <a:fillRect l="-1" t="-14" r="8" b="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170816" y="5347893"/>
            <a:ext cx="8004055" cy="113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若调速器摩擦力太大，则调速器控制不准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若摩擦力太小，则调速器可能会出现振荡行为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0"/>
              <p:cNvSpPr>
                <a:spLocks noChangeArrowheads="1"/>
              </p:cNvSpPr>
              <p:nvPr/>
            </p:nvSpPr>
            <p:spPr bwMode="auto">
              <a:xfrm>
                <a:off x="6372200" y="2549554"/>
                <a:ext cx="605793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t" anchorCtr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en-US" altLang="zh-CN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altLang="zh-CN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𝜔</m:t>
                          </m:r>
                        </m:e>
                      </m:acc>
                    </m:oMath>
                  </m:oMathPara>
                </a14:m>
                <a:endPara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>
          <p:sp>
            <p:nvSpPr>
              <p:cNvPr id="13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72200" y="2549554"/>
                <a:ext cx="605793" cy="830997"/>
              </a:xfrm>
              <a:prstGeom prst="rect">
                <a:avLst/>
              </a:prstGeom>
              <a:blipFill rotWithShape="1">
                <a:blip r:embed="rId3"/>
                <a:stretch>
                  <a:fillRect l="-101" t="-3" r="101" b="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10" grpId="0"/>
      <p:bldP spid="11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148" name="Rectangle 4"/>
              <p:cNvSpPr>
                <a:spLocks noChangeArrowheads="1"/>
              </p:cNvSpPr>
              <p:nvPr/>
            </p:nvSpPr>
            <p:spPr bwMode="auto">
              <a:xfrm>
                <a:off x="251520" y="83688"/>
                <a:ext cx="8640960" cy="300665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 anchor="t" anchorCtr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问题：计算离心调速器小球的速度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解：取如图所示的动系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sˊ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的固定直坐标，小球的相对速度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′</m:t>
                          </m:r>
                        </m:sup>
                      </m:sSup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𝑙</m:t>
                      </m:r>
                      <m:acc>
                        <m:accPr>
                          <m:chr m:val="̇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𝜃</m:t>
                          </m:r>
                        </m:e>
                      </m:acc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kumimoji="0" lang="en-US" altLang="zh-CN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altLang="zh-CN" sz="2400" b="0" i="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0" lang="en-US" altLang="zh-CN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𝜃</m:t>
                              </m:r>
                            </m:e>
                          </m:func>
                          <m:acc>
                            <m:accPr>
                              <m:chr m:val="⃗"/>
                              <m:ctrlPr>
                                <a:rPr kumimoji="0" lang="en-US" altLang="zh-CN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𝑖</m:t>
                              </m:r>
                            </m:e>
                          </m:acc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+</m:t>
                          </m:r>
                          <m:func>
                            <m:funcPr>
                              <m:ctrlPr>
                                <a:rPr kumimoji="0" lang="en-US" altLang="zh-CN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altLang="zh-CN" sz="2400" b="0" i="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0" lang="en-US" altLang="zh-CN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𝜃</m:t>
                              </m:r>
                            </m:e>
                          </m:func>
                          <m:acc>
                            <m:accPr>
                              <m:chr m:val="⃗"/>
                              <m:ctrlPr>
                                <a:rPr kumimoji="0" lang="en-US" altLang="zh-CN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𝑗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角速度和位矢为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𝜔</m:t>
                          </m:r>
                        </m:e>
                      </m:acc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𝜔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𝑘</m:t>
                          </m:r>
                        </m:e>
                      </m:acc>
                      <m:r>
                        <a:rPr kumimoji="0" lang="en-US" altLang="zh-CN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,  </m:t>
                      </m:r>
                      <m:acc>
                        <m:accPr>
                          <m:chr m:val="⃗"/>
                          <m:ctrlP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𝑟</m:t>
                          </m:r>
                        </m:e>
                      </m:acc>
                      <m:r>
                        <a:rPr kumimoji="0" lang="en-US" altLang="zh-CN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r>
                        <a:rPr kumimoji="0" lang="en-US" altLang="zh-CN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𝑙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kumimoji="0" lang="en-US" altLang="zh-CN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altLang="zh-CN" sz="2400" b="0" i="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0" lang="en-US" altLang="zh-CN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𝜃</m:t>
                              </m:r>
                            </m:e>
                          </m:func>
                          <m:acc>
                            <m:accPr>
                              <m:chr m:val="⃗"/>
                              <m:ctrlPr>
                                <a:rPr kumimoji="0" lang="en-US" altLang="zh-CN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𝑖</m:t>
                              </m:r>
                            </m:e>
                          </m:acc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−</m:t>
                          </m:r>
                          <m:func>
                            <m:funcPr>
                              <m:ctrlPr>
                                <a:rPr kumimoji="0" lang="en-US" altLang="zh-CN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altLang="zh-CN" sz="2400" b="0" i="0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0" lang="en-US" altLang="zh-CN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𝜃</m:t>
                              </m:r>
                            </m:e>
                          </m:func>
                          <m:acc>
                            <m:accPr>
                              <m:chr m:val="⃗"/>
                              <m:ctrlPr>
                                <a:rPr kumimoji="0" lang="en-US" altLang="zh-CN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𝑘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>
          <p:sp>
            <p:nvSpPr>
              <p:cNvPr id="6148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83688"/>
                <a:ext cx="8640960" cy="3006657"/>
              </a:xfrm>
              <a:prstGeom prst="rect">
                <a:avLst/>
              </a:prstGeom>
              <a:blipFill rotWithShape="1">
                <a:blip r:embed="rId1"/>
                <a:stretch>
                  <a:fillRect l="-1" t="-17" r="7" b="-1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063" name="Rectangle 9"/>
          <p:cNvSpPr>
            <a:spLocks noChangeArrowheads="1"/>
          </p:cNvSpPr>
          <p:nvPr/>
        </p:nvSpPr>
        <p:spPr bwMode="auto">
          <a:xfrm>
            <a:off x="0" y="3660775"/>
            <a:ext cx="363538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508104" y="2924944"/>
            <a:ext cx="3243571" cy="3638550"/>
            <a:chOff x="6034980" y="2996952"/>
            <a:chExt cx="3243571" cy="3638550"/>
          </a:xfrm>
        </p:grpSpPr>
        <p:grpSp>
          <p:nvGrpSpPr>
            <p:cNvPr id="45066" name="Group 14"/>
            <p:cNvGrpSpPr/>
            <p:nvPr/>
          </p:nvGrpSpPr>
          <p:grpSpPr bwMode="auto">
            <a:xfrm>
              <a:off x="6034980" y="2996952"/>
              <a:ext cx="2857500" cy="3638550"/>
              <a:chOff x="3731" y="1139"/>
              <a:chExt cx="1800" cy="2292"/>
            </a:xfrm>
          </p:grpSpPr>
          <p:pic>
            <p:nvPicPr>
              <p:cNvPr id="45067" name="Picture 12" descr="图5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31" y="1139"/>
                <a:ext cx="1800" cy="22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5068" name="Rectangle 13"/>
              <p:cNvSpPr>
                <a:spLocks noChangeArrowheads="1"/>
              </p:cNvSpPr>
              <p:nvPr/>
            </p:nvSpPr>
            <p:spPr bwMode="auto">
              <a:xfrm>
                <a:off x="4368" y="3168"/>
                <a:ext cx="528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p:grpSp>
        <p:cxnSp>
          <p:nvCxnSpPr>
            <p:cNvPr id="3" name="直接箭头连接符 2"/>
            <p:cNvCxnSpPr/>
            <p:nvPr/>
          </p:nvCxnSpPr>
          <p:spPr bwMode="auto">
            <a:xfrm flipV="1">
              <a:off x="8500441" y="5049837"/>
              <a:ext cx="648072" cy="504056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" name="直接连接符 4"/>
            <p:cNvCxnSpPr/>
            <p:nvPr/>
          </p:nvCxnSpPr>
          <p:spPr bwMode="auto">
            <a:xfrm>
              <a:off x="7474842" y="5553893"/>
              <a:ext cx="1781175" cy="0"/>
            </a:xfrm>
            <a:prstGeom prst="line">
              <a:avLst/>
            </a:prstGeom>
            <a:ln w="12700">
              <a:prstDash val="dash"/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6" name="弧形 5"/>
            <p:cNvSpPr/>
            <p:nvPr/>
          </p:nvSpPr>
          <p:spPr bwMode="auto">
            <a:xfrm>
              <a:off x="8172480" y="5193855"/>
              <a:ext cx="720000" cy="720077"/>
            </a:xfrm>
            <a:prstGeom prst="arc">
              <a:avLst>
                <a:gd name="adj1" fmla="val 19215105"/>
                <a:gd name="adj2" fmla="val 0"/>
              </a:avLst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矩形 6"/>
                <p:cNvSpPr/>
                <p:nvPr/>
              </p:nvSpPr>
              <p:spPr>
                <a:xfrm>
                  <a:off x="8834776" y="5157539"/>
                  <a:ext cx="443775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𝜃</m:t>
                        </m:r>
                      </m:oMath>
                    </m:oMathPara>
                  </a14:m>
                  <a:endPara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>
            <p:sp>
              <p:nvSpPr>
                <p:cNvPr id="7" name="矩形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76" y="5157539"/>
                  <a:ext cx="443775" cy="461665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矩形 18"/>
                <p:cNvSpPr/>
                <p:nvPr/>
              </p:nvSpPr>
              <p:spPr>
                <a:xfrm>
                  <a:off x="8466939" y="4829844"/>
                  <a:ext cx="53931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1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𝑣</m:t>
                            </m:r>
                          </m:e>
                          <m:sup>
                            <m:r>
                              <a:rPr kumimoji="1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mc:Choice>
          <mc:Fallback>
            <p:sp>
              <p:nvSpPr>
                <p:cNvPr id="19" name="矩形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6939" y="4829844"/>
                  <a:ext cx="539314" cy="461665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4"/>
              <p:cNvSpPr>
                <a:spLocks noChangeArrowheads="1"/>
              </p:cNvSpPr>
              <p:nvPr/>
            </p:nvSpPr>
            <p:spPr bwMode="auto">
              <a:xfrm>
                <a:off x="251520" y="3150839"/>
                <a:ext cx="5688632" cy="237597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 anchor="t" anchorCtr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牵连速度为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𝜔</m:t>
                          </m:r>
                        </m:e>
                      </m:acc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𝑟</m:t>
                          </m:r>
                        </m:e>
                      </m:acc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𝜔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𝑙</m:t>
                      </m:r>
                      <m:func>
                        <m:func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sin</m:t>
                          </m:r>
                        </m:fName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𝜃</m:t>
                          </m:r>
                        </m:e>
                      </m:func>
                      <m:acc>
                        <m:accPr>
                          <m:chr m:val="⃗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𝑗</m:t>
                          </m:r>
                        </m:e>
                      </m:acc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小球的绝对速度为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acc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𝑣</m:t>
                        </m:r>
                      </m:e>
                    </m:acc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𝑣</m:t>
                            </m:r>
                          </m:e>
                        </m:acc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′</m:t>
                        </m:r>
                      </m:sup>
                    </m:sSup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+</m:t>
                    </m:r>
                    <m:acc>
                      <m:accPr>
                        <m:chr m:val="⃗"/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acc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𝜔</m:t>
                        </m:r>
                      </m:e>
                    </m:acc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×</m:t>
                    </m:r>
                    <m:acc>
                      <m:accPr>
                        <m:chr m:val="⃗"/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acc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𝑟</m:t>
                        </m:r>
                      </m:e>
                    </m:acc>
                  </m:oMath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𝑣</m:t>
                          </m:r>
                        </m:e>
                      </m:acc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𝑙</m:t>
                      </m:r>
                      <m:acc>
                        <m:accPr>
                          <m:chr m:val="̇"/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𝜃</m:t>
                          </m:r>
                        </m:e>
                      </m:acc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kumimoji="0" lang="en-US" altLang="zh-CN" sz="24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altLang="zh-CN" sz="2400" b="0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0" lang="en-US" altLang="zh-CN" sz="24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𝜃</m:t>
                              </m:r>
                            </m:e>
                          </m:func>
                          <m:acc>
                            <m:accPr>
                              <m:chr m:val="⃗"/>
                              <m:ctrlPr>
                                <a:rPr kumimoji="0" lang="en-US" altLang="zh-CN" sz="24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24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𝑖</m:t>
                              </m:r>
                            </m:e>
                          </m:acc>
                          <m:r>
                            <a:rPr kumimoji="0" lang="en-US" altLang="zh-CN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+</m:t>
                          </m:r>
                          <m:func>
                            <m:funcPr>
                              <m:ctrlPr>
                                <a:rPr kumimoji="0" lang="en-US" altLang="zh-CN" sz="24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0" lang="en-US" altLang="zh-CN" sz="2400" b="0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0" lang="en-US" altLang="zh-CN" sz="24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𝜃</m:t>
                              </m:r>
                            </m:e>
                          </m:func>
                          <m:acc>
                            <m:accPr>
                              <m:chr m:val="⃗"/>
                              <m:ctrlPr>
                                <a:rPr kumimoji="0" lang="en-US" altLang="zh-CN" sz="24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altLang="zh-CN" sz="24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𝑗</m:t>
                              </m:r>
                            </m:e>
                          </m:acc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𝜔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𝑙</m:t>
                      </m:r>
                      <m:func>
                        <m:funcPr>
                          <m:ctrlP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sin</m:t>
                          </m:r>
                        </m:fName>
                        <m:e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𝜃</m:t>
                          </m:r>
                        </m:e>
                      </m:func>
                      <m:acc>
                        <m:accPr>
                          <m:chr m:val="⃗"/>
                          <m:ctrlP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𝑗</m:t>
                          </m:r>
                        </m:e>
                      </m:acc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>
          <p:sp>
            <p:nvSpPr>
              <p:cNvPr id="21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3150839"/>
                <a:ext cx="5688632" cy="2375971"/>
              </a:xfrm>
              <a:prstGeom prst="rect">
                <a:avLst/>
              </a:prstGeom>
              <a:blipFill rotWithShape="1">
                <a:blip r:embed="rId5"/>
                <a:stretch>
                  <a:fillRect l="-1" t="-25" r="6" b="-123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animBg="1" autoUpdateAnimBg="0"/>
      <p:bldP spid="21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268" name="Rectangle 28"/>
              <p:cNvSpPr>
                <a:spLocks noChangeArrowheads="1"/>
              </p:cNvSpPr>
              <p:nvPr/>
            </p:nvSpPr>
            <p:spPr bwMode="auto">
              <a:xfrm>
                <a:off x="134963" y="803963"/>
                <a:ext cx="8998173" cy="57942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6708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8618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528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en-US" altLang="zh-CN" b="0" dirty="0">
                  <a:ea typeface="黑体" panose="02010609060101010101" pitchFamily="49" charset="-122"/>
                </a:endParaRPr>
              </a:p>
              <a:p>
                <a:pPr marL="342900" indent="-342900" algn="just" eaLnBrk="1" hangingPunct="1"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ea typeface="黑体" panose="02010609060101010101" pitchFamily="49" charset="-122"/>
                  </a:rPr>
                  <a:t>两边对时间求导</a:t>
                </a:r>
                <a:endParaRPr lang="en-US" altLang="zh-CN" dirty="0">
                  <a:ea typeface="黑体" panose="02010609060101010101" pitchFamily="49" charset="-122"/>
                </a:endParaRPr>
              </a:p>
              <a:p>
                <a:pPr algn="just" eaLnBrk="1" hangingPunct="1"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≡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𝜔</m:t>
                              </m:r>
                            </m:e>
                          </m:acc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altLang="zh-CN" b="0" dirty="0">
                  <a:ea typeface="黑体" panose="02010609060101010101" pitchFamily="49" charset="-122"/>
                </a:endParaRPr>
              </a:p>
              <a:p>
                <a:pPr marL="342900" indent="-342900"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ea typeface="黑体" panose="02010609060101010101" pitchFamily="49" charset="-122"/>
                  </a:rPr>
                  <a:t>根据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𝐺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∗</m:t>
                            </m:r>
                          </m:sup>
                        </m:sSup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𝐺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𝜔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𝐺</m:t>
                        </m:r>
                      </m:e>
                    </m:acc>
                  </m:oMath>
                </a14:m>
                <a:r>
                  <a:rPr lang="zh-CN" altLang="en-US" dirty="0">
                    <a:solidFill>
                      <a:srgbClr val="C00000"/>
                    </a:solidFill>
                    <a:ea typeface="黑体" panose="02010609060101010101" pitchFamily="49" charset="-122"/>
                  </a:rPr>
                  <a:t>，</a:t>
                </a:r>
                <a:r>
                  <a:rPr lang="zh-CN" altLang="en-US" b="1" dirty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右边第一项</a:t>
                </a:r>
                <a:endParaRPr lang="en-US" altLang="zh-CN" b="1" dirty="0">
                  <a:solidFill>
                    <a:srgbClr val="0000FF"/>
                  </a:solidFill>
                  <a:ea typeface="黑体" panose="02010609060101010101" pitchFamily="49" charset="-122"/>
                </a:endParaRPr>
              </a:p>
              <a:p>
                <a:pPr algn="just" eaLnBrk="1" hangingPunct="1"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∗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b="0" i="1" dirty="0">
                  <a:solidFill>
                    <a:srgbClr val="0000FF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  <a:p>
                <a:pPr algn="just" eaLnBrk="1" hangingPunct="1"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:r>
                  <a:rPr lang="zh-CN" altLang="en-US" i="0" dirty="0">
                    <a:solidFill>
                      <a:schemeClr val="tx1"/>
                    </a:solidFill>
                    <a:latin typeface="+mj-lt"/>
                    <a:ea typeface="黑体" panose="02010609060101010101" pitchFamily="49" charset="-122"/>
                  </a:rPr>
                  <a:t>已知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𝑣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acc>
                      <m:accPr>
                        <m:chr m:val="̇"/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e>
                    </m:acc>
                    <m:acc>
                      <m:accPr>
                        <m:chr m:val="⃗"/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𝑖</m:t>
                        </m:r>
                      </m:e>
                    </m:acc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acc>
                      <m:accPr>
                        <m:chr m:val="̇"/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</m:e>
                    </m:acc>
                    <m:acc>
                      <m:accPr>
                        <m:chr m:val="⃗"/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𝑗</m:t>
                        </m:r>
                      </m:e>
                    </m:acc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acc>
                      <m:accPr>
                        <m:chr m:val="̇"/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𝑧</m:t>
                        </m:r>
                      </m:e>
                    </m:acc>
                    <m:acc>
                      <m:accPr>
                        <m:chr m:val="⃗"/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𝑘</m:t>
                        </m:r>
                      </m:e>
                    </m:acc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，故</a:t>
                </a:r>
                <a:endParaRPr lang="en-US" altLang="zh-CN" dirty="0">
                  <a:solidFill>
                    <a:schemeClr val="tx1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  <a:p>
                <a:pPr algn="just" eaLnBrk="1" hangingPunct="1"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∗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acc>
                        <m:accPr>
                          <m:chr m:val="̈"/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𝑖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acc>
                        <m:accPr>
                          <m:chr m:val="̈"/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acc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𝑗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acc>
                        <m:accPr>
                          <m:chr m:val="̈"/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e>
                      </m:acc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  <a:p>
                <a:pPr algn="just" eaLnBrk="1" hangingPunct="1"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:r>
                  <a:rPr lang="zh-CN" alt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右方第一项变为</a:t>
                </a:r>
                <a:endParaRPr lang="en-US" altLang="zh-CN" dirty="0">
                  <a:solidFill>
                    <a:schemeClr val="tx1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  <a:p>
                <a:pPr algn="just" eaLnBrk="1" hangingPunct="1"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zh-CN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0268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963" y="803963"/>
                <a:ext cx="8998173" cy="5794215"/>
              </a:xfrm>
              <a:prstGeom prst="rect">
                <a:avLst/>
              </a:prstGeom>
              <a:blipFill rotWithShape="1">
                <a:blip r:embed="rId1"/>
                <a:stretch>
                  <a:fillRect l="-4" t="-1" r="6" b="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6809759" y="908720"/>
            <a:ext cx="2302110" cy="2392075"/>
            <a:chOff x="6706927" y="150607"/>
            <a:chExt cx="2302110" cy="2392075"/>
          </a:xfrm>
        </p:grpSpPr>
        <p:sp>
          <p:nvSpPr>
            <p:cNvPr id="3" name="任意多边形: 形状 2"/>
            <p:cNvSpPr/>
            <p:nvPr/>
          </p:nvSpPr>
          <p:spPr>
            <a:xfrm>
              <a:off x="6706927" y="693302"/>
              <a:ext cx="2302110" cy="1849380"/>
            </a:xfrm>
            <a:custGeom>
              <a:avLst/>
              <a:gdLst>
                <a:gd name="connsiteX0" fmla="*/ 40173 w 1632706"/>
                <a:gd name="connsiteY0" fmla="*/ 443975 h 1528362"/>
                <a:gd name="connsiteX1" fmla="*/ 1139058 w 1632706"/>
                <a:gd name="connsiteY1" fmla="*/ 34902 h 1528362"/>
                <a:gd name="connsiteX2" fmla="*/ 1604279 w 1632706"/>
                <a:gd name="connsiteY2" fmla="*/ 1286186 h 1528362"/>
                <a:gd name="connsiteX3" fmla="*/ 369037 w 1632706"/>
                <a:gd name="connsiteY3" fmla="*/ 1454628 h 1528362"/>
                <a:gd name="connsiteX4" fmla="*/ 40173 w 1632706"/>
                <a:gd name="connsiteY4" fmla="*/ 443975 h 152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32706" h="1528362">
                  <a:moveTo>
                    <a:pt x="40173" y="443975"/>
                  </a:moveTo>
                  <a:cubicBezTo>
                    <a:pt x="168510" y="207354"/>
                    <a:pt x="878374" y="-105466"/>
                    <a:pt x="1139058" y="34902"/>
                  </a:cubicBezTo>
                  <a:cubicBezTo>
                    <a:pt x="1399742" y="175270"/>
                    <a:pt x="1732616" y="1049565"/>
                    <a:pt x="1604279" y="1286186"/>
                  </a:cubicBezTo>
                  <a:cubicBezTo>
                    <a:pt x="1475942" y="1522807"/>
                    <a:pt x="628385" y="1600344"/>
                    <a:pt x="369037" y="1454628"/>
                  </a:cubicBezTo>
                  <a:cubicBezTo>
                    <a:pt x="109689" y="1308912"/>
                    <a:pt x="-88164" y="680596"/>
                    <a:pt x="40173" y="443975"/>
                  </a:cubicBezTo>
                  <a:close/>
                </a:path>
              </a:pathLst>
            </a:custGeom>
            <a:solidFill>
              <a:schemeClr val="bg1"/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" name="直接箭头连接符 3"/>
            <p:cNvCxnSpPr/>
            <p:nvPr/>
          </p:nvCxnSpPr>
          <p:spPr>
            <a:xfrm flipV="1">
              <a:off x="7181731" y="381440"/>
              <a:ext cx="0" cy="193926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弧形 4"/>
            <p:cNvSpPr/>
            <p:nvPr/>
          </p:nvSpPr>
          <p:spPr>
            <a:xfrm>
              <a:off x="6856877" y="612096"/>
              <a:ext cx="649706" cy="220579"/>
            </a:xfrm>
            <a:prstGeom prst="arc">
              <a:avLst>
                <a:gd name="adj1" fmla="val 20234095"/>
                <a:gd name="adj2" fmla="val 12612672"/>
              </a:avLst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矩形 5"/>
                <p:cNvSpPr/>
                <p:nvPr/>
              </p:nvSpPr>
              <p:spPr>
                <a:xfrm>
                  <a:off x="7181731" y="150607"/>
                  <a:ext cx="483145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𝜔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" name="矩形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731" y="150607"/>
                  <a:ext cx="483145" cy="461665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直接箭头连接符 6"/>
            <p:cNvCxnSpPr/>
            <p:nvPr/>
          </p:nvCxnSpPr>
          <p:spPr>
            <a:xfrm flipV="1">
              <a:off x="7181731" y="1362321"/>
              <a:ext cx="1211179" cy="95838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/>
            <p:cNvCxnSpPr/>
            <p:nvPr/>
          </p:nvCxnSpPr>
          <p:spPr>
            <a:xfrm>
              <a:off x="7198720" y="1351073"/>
              <a:ext cx="1194190" cy="0"/>
            </a:xfrm>
            <a:prstGeom prst="straightConnector1">
              <a:avLst/>
            </a:prstGeom>
            <a:ln w="381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/>
                <p:cNvSpPr/>
                <p:nvPr/>
              </p:nvSpPr>
              <p:spPr>
                <a:xfrm>
                  <a:off x="7711122" y="887135"/>
                  <a:ext cx="458202" cy="5064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𝑅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9" name="矩形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1122" y="887135"/>
                  <a:ext cx="458202" cy="506421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/>
                <p:cNvSpPr/>
                <p:nvPr/>
              </p:nvSpPr>
              <p:spPr>
                <a:xfrm>
                  <a:off x="7654882" y="1837736"/>
                  <a:ext cx="40620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𝑟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" name="矩形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4882" y="1837736"/>
                  <a:ext cx="406200" cy="461665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3" name="矩形 12"/>
          <p:cNvSpPr/>
          <p:nvPr/>
        </p:nvSpPr>
        <p:spPr>
          <a:xfrm>
            <a:off x="140147" y="205272"/>
            <a:ext cx="2969083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二、加速度变换公式</a:t>
            </a:r>
            <a:endParaRPr lang="zh-CN" altLang="en-US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28080" y="4076700"/>
            <a:ext cx="30480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这些数学推导是严格的，如果使用微元法会出现小量近似，感觉不严谨，其实很严谨。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268" name="Rectangle 28"/>
              <p:cNvSpPr>
                <a:spLocks noChangeArrowheads="1"/>
              </p:cNvSpPr>
              <p:nvPr/>
            </p:nvSpPr>
            <p:spPr bwMode="auto">
              <a:xfrm>
                <a:off x="83404" y="440187"/>
                <a:ext cx="8998173" cy="54355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6708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8618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528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≡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𝜔</m:t>
                              </m:r>
                            </m:e>
                          </m:acc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altLang="zh-CN" b="0" dirty="0">
                  <a:ea typeface="黑体" panose="02010609060101010101" pitchFamily="49" charset="-122"/>
                </a:endParaRPr>
              </a:p>
              <a:p>
                <a:pPr marL="342900" indent="-342900"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ea typeface="黑体" panose="02010609060101010101" pitchFamily="49" charset="-122"/>
                  </a:rPr>
                  <a:t>直接利用求导规则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𝐴𝐵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𝐵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𝐴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𝐵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rgbClr val="0000FF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，</a:t>
                </a:r>
                <a:r>
                  <a:rPr lang="zh-CN" altLang="en-US" b="1" dirty="0">
                    <a:solidFill>
                      <a:srgbClr val="0000FF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右方第二项</a:t>
                </a:r>
                <a:r>
                  <a:rPr lang="zh-CN" altLang="en-US" dirty="0">
                    <a:solidFill>
                      <a:srgbClr val="0000FF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为</a:t>
                </a:r>
                <a:endParaRPr lang="en-US" altLang="zh-CN" dirty="0">
                  <a:solidFill>
                    <a:srgbClr val="0000FF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  <a:p>
                <a:pPr algn="just" eaLnBrk="1" hangingPunct="1">
                  <a:spcBef>
                    <a:spcPct val="10000"/>
                  </a:spcBef>
                  <a:buClr>
                    <a:schemeClr val="tx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   </m:t>
                      </m:r>
                      <m:f>
                        <m:fPr>
                          <m:ctrlPr>
                            <a:rPr lang="en-US" altLang="zh-CN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d>
                        <m:d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𝜔</m:t>
                              </m:r>
                            </m:e>
                          </m:acc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𝜔</m:t>
                              </m:r>
                            </m:e>
                          </m:acc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   </m:t>
                      </m:r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  <a:p>
                <a:pPr algn="just" eaLnBrk="1" hangingPunct="1"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                        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𝜔</m:t>
                              </m:r>
                            </m:e>
                          </m:acc>
                        </m:e>
                      </m:acc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𝜔</m:t>
                              </m:r>
                            </m:e>
                          </m:acc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altLang="zh-CN" b="0" dirty="0">
                  <a:solidFill>
                    <a:srgbClr val="0000FF"/>
                  </a:solidFill>
                  <a:ea typeface="黑体" panose="02010609060101010101" pitchFamily="49" charset="-122"/>
                </a:endParaRPr>
              </a:p>
              <a:p>
                <a:pPr algn="just" eaLnBrk="1" hangingPunct="1"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:r>
                  <a:rPr lang="zh-CN" altLang="en-US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根据矢量叉乘公式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</m:t>
                        </m:r>
                      </m:e>
                    </m:acc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×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𝑏</m:t>
                            </m:r>
                          </m:e>
                        </m:acc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𝑐</m:t>
                            </m:r>
                          </m:e>
                        </m:acc>
                      </m:e>
                    </m:d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𝑎</m:t>
                            </m:r>
                          </m:e>
                        </m:acc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𝑐</m:t>
                            </m:r>
                          </m:e>
                        </m:acc>
                      </m:e>
                    </m:d>
                    <m:acc>
                      <m:accPr>
                        <m:chr m:val="⃗"/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𝑏</m:t>
                        </m:r>
                      </m:e>
                    </m:acc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−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𝑎</m:t>
                            </m:r>
                          </m:e>
                        </m:acc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𝑏</m:t>
                            </m:r>
                          </m:e>
                        </m:acc>
                      </m:e>
                    </m:d>
                    <m:acc>
                      <m:accPr>
                        <m:chr m:val="⃗"/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𝑐</m:t>
                        </m:r>
                      </m:e>
                    </m:acc>
                  </m:oMath>
                </a14:m>
                <a:r>
                  <a:rPr lang="zh-CN" altLang="en-US" b="0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，最后一项为</a:t>
                </a:r>
                <a:endParaRPr lang="en-US" altLang="zh-CN" b="0" dirty="0">
                  <a:solidFill>
                    <a:schemeClr val="tx1"/>
                  </a:solidFill>
                  <a:ea typeface="黑体" panose="02010609060101010101" pitchFamily="49" charset="-122"/>
                </a:endParaRPr>
              </a:p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𝜔</m:t>
                              </m:r>
                            </m:e>
                          </m:acc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𝜔</m:t>
                              </m:r>
                            </m:e>
                          </m:acc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𝑅</m:t>
                          </m:r>
                        </m:e>
                      </m:acc>
                    </m:oMath>
                  </m:oMathPara>
                </a14:m>
                <a:endParaRPr lang="en-US" altLang="zh-CN" b="0" dirty="0">
                  <a:ea typeface="黑体" panose="02010609060101010101" pitchFamily="49" charset="-122"/>
                </a:endParaRPr>
              </a:p>
              <a:p>
                <a:pPr marL="342900" indent="-342900"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ea typeface="黑体" panose="02010609060101010101" pitchFamily="49" charset="-122"/>
                  </a:rPr>
                  <a:t>右方两项相加，易得加速度变换公式</a:t>
                </a:r>
                <a:endParaRPr lang="en-US" altLang="zh-CN" dirty="0">
                  <a:ea typeface="黑体" panose="02010609060101010101" pitchFamily="49" charset="-122"/>
                </a:endParaRPr>
              </a:p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            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lang="en-US" altLang="zh-CN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𝜔</m:t>
                              </m:r>
                            </m:e>
                          </m:acc>
                        </m:e>
                      </m:acc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𝑅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2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dirty="0">
                  <a:ea typeface="黑体" panose="02010609060101010101" pitchFamily="49" charset="-122"/>
                </a:endParaRPr>
              </a:p>
              <a:p>
                <a:pPr marL="342900" indent="-342900"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</a:pPr>
                <a:endParaRPr lang="en-US" altLang="zh-CN" b="0" dirty="0"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0268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404" y="440187"/>
                <a:ext cx="8998173" cy="5435591"/>
              </a:xfrm>
              <a:prstGeom prst="rect">
                <a:avLst/>
              </a:prstGeom>
              <a:blipFill rotWithShape="1">
                <a:blip r:embed="rId1"/>
                <a:stretch>
                  <a:fillRect l="-2" t="-2" r="5" b="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6847811" y="521430"/>
                <a:ext cx="2212785" cy="699550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</m:acc>
                      <m:r>
                        <a:rPr lang="en-US" altLang="zh-CN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sSup>
                        <m:sSupPr>
                          <m:ctrlP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lang="en-US" altLang="zh-CN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CN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7811" y="521430"/>
                <a:ext cx="2212785" cy="699550"/>
              </a:xfrm>
              <a:prstGeom prst="rect">
                <a:avLst/>
              </a:prstGeom>
              <a:blipFill rotWithShape="1">
                <a:blip r:embed="rId2"/>
                <a:stretch>
                  <a:fillRect l="-228" t="-740" r="-211" b="-65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6553200" y="4056653"/>
            <a:ext cx="2302110" cy="2392075"/>
            <a:chOff x="6706927" y="150607"/>
            <a:chExt cx="2302110" cy="2392075"/>
          </a:xfrm>
        </p:grpSpPr>
        <p:sp>
          <p:nvSpPr>
            <p:cNvPr id="16" name="任意多边形: 形状 15"/>
            <p:cNvSpPr/>
            <p:nvPr/>
          </p:nvSpPr>
          <p:spPr>
            <a:xfrm>
              <a:off x="6706927" y="693302"/>
              <a:ext cx="2302110" cy="1849380"/>
            </a:xfrm>
            <a:custGeom>
              <a:avLst/>
              <a:gdLst>
                <a:gd name="connsiteX0" fmla="*/ 40173 w 1632706"/>
                <a:gd name="connsiteY0" fmla="*/ 443975 h 1528362"/>
                <a:gd name="connsiteX1" fmla="*/ 1139058 w 1632706"/>
                <a:gd name="connsiteY1" fmla="*/ 34902 h 1528362"/>
                <a:gd name="connsiteX2" fmla="*/ 1604279 w 1632706"/>
                <a:gd name="connsiteY2" fmla="*/ 1286186 h 1528362"/>
                <a:gd name="connsiteX3" fmla="*/ 369037 w 1632706"/>
                <a:gd name="connsiteY3" fmla="*/ 1454628 h 1528362"/>
                <a:gd name="connsiteX4" fmla="*/ 40173 w 1632706"/>
                <a:gd name="connsiteY4" fmla="*/ 443975 h 152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32706" h="1528362">
                  <a:moveTo>
                    <a:pt x="40173" y="443975"/>
                  </a:moveTo>
                  <a:cubicBezTo>
                    <a:pt x="168510" y="207354"/>
                    <a:pt x="878374" y="-105466"/>
                    <a:pt x="1139058" y="34902"/>
                  </a:cubicBezTo>
                  <a:cubicBezTo>
                    <a:pt x="1399742" y="175270"/>
                    <a:pt x="1732616" y="1049565"/>
                    <a:pt x="1604279" y="1286186"/>
                  </a:cubicBezTo>
                  <a:cubicBezTo>
                    <a:pt x="1475942" y="1522807"/>
                    <a:pt x="628385" y="1600344"/>
                    <a:pt x="369037" y="1454628"/>
                  </a:cubicBezTo>
                  <a:cubicBezTo>
                    <a:pt x="109689" y="1308912"/>
                    <a:pt x="-88164" y="680596"/>
                    <a:pt x="40173" y="443975"/>
                  </a:cubicBezTo>
                  <a:close/>
                </a:path>
              </a:pathLst>
            </a:custGeom>
            <a:solidFill>
              <a:schemeClr val="bg1"/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7" name="直接箭头连接符 16"/>
            <p:cNvCxnSpPr/>
            <p:nvPr/>
          </p:nvCxnSpPr>
          <p:spPr>
            <a:xfrm flipV="1">
              <a:off x="7181731" y="381440"/>
              <a:ext cx="0" cy="193926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弧形 17"/>
            <p:cNvSpPr/>
            <p:nvPr/>
          </p:nvSpPr>
          <p:spPr>
            <a:xfrm>
              <a:off x="6856877" y="612096"/>
              <a:ext cx="649706" cy="220579"/>
            </a:xfrm>
            <a:prstGeom prst="arc">
              <a:avLst>
                <a:gd name="adj1" fmla="val 20234095"/>
                <a:gd name="adj2" fmla="val 12612672"/>
              </a:avLst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矩形 18"/>
                <p:cNvSpPr/>
                <p:nvPr/>
              </p:nvSpPr>
              <p:spPr>
                <a:xfrm>
                  <a:off x="7181731" y="150607"/>
                  <a:ext cx="483145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𝜔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9" name="矩形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731" y="150607"/>
                  <a:ext cx="483145" cy="461665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直接箭头连接符 19"/>
            <p:cNvCxnSpPr/>
            <p:nvPr/>
          </p:nvCxnSpPr>
          <p:spPr>
            <a:xfrm flipV="1">
              <a:off x="7181731" y="1362321"/>
              <a:ext cx="1211179" cy="95838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>
              <a:off x="7198720" y="1351073"/>
              <a:ext cx="1194190" cy="0"/>
            </a:xfrm>
            <a:prstGeom prst="straightConnector1">
              <a:avLst/>
            </a:prstGeom>
            <a:ln w="381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矩形 21"/>
                <p:cNvSpPr/>
                <p:nvPr/>
              </p:nvSpPr>
              <p:spPr>
                <a:xfrm>
                  <a:off x="7711122" y="887135"/>
                  <a:ext cx="458202" cy="5064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𝑅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22" name="矩形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1122" y="887135"/>
                  <a:ext cx="458202" cy="506421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矩形 22"/>
                <p:cNvSpPr/>
                <p:nvPr/>
              </p:nvSpPr>
              <p:spPr>
                <a:xfrm>
                  <a:off x="7654882" y="1837736"/>
                  <a:ext cx="40620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𝑟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3" name="矩形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4882" y="1837736"/>
                  <a:ext cx="406200" cy="461665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179512" y="188640"/>
                <a:ext cx="8712968" cy="367510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lang="en-US" altLang="zh-CN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𝜔</m:t>
                              </m:r>
                            </m:e>
                          </m:acc>
                        </m:e>
                      </m:acc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𝑅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2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dirty="0">
                  <a:ea typeface="黑体" panose="02010609060101010101" pitchFamily="49" charset="-122"/>
                </a:endParaRPr>
              </a:p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t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                              </m:t>
                      </m:r>
                    </m:oMath>
                  </m:oMathPara>
                </a14:m>
                <a:endParaRPr lang="en-US" altLang="zh-CN" dirty="0">
                  <a:ea typeface="黑体" panose="02010609060101010101" pitchFamily="49" charset="-122"/>
                </a:endParaRPr>
              </a:p>
              <a:p>
                <a:pPr marL="342900" indent="-342900"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𝑎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：</a:t>
                </a:r>
                <a:r>
                  <a:rPr lang="zh-CN" altLang="en-US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相对加速度</a:t>
                </a:r>
                <a:r>
                  <a:rPr lang="zh-CN" altLang="en-US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，在转动系中看到的质点加速度。</a:t>
                </a:r>
                <a:endParaRPr lang="en-US" altLang="zh-CN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  <a:p>
                <a:pPr marL="342900" indent="-342900"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altLang="zh-CN" i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t</m:t>
                        </m:r>
                      </m:sub>
                    </m:sSub>
                  </m:oMath>
                </a14:m>
                <a:r>
                  <a:rPr lang="zh-CN" altLang="en-US" dirty="0">
                    <a:ea typeface="黑体" panose="02010609060101010101" pitchFamily="49" charset="-122"/>
                  </a:rPr>
                  <a:t>：</a:t>
                </a:r>
                <a:r>
                  <a:rPr lang="zh-CN" altLang="en-US" dirty="0">
                    <a:solidFill>
                      <a:srgbClr val="FF0000"/>
                    </a:solidFill>
                    <a:ea typeface="黑体" panose="02010609060101010101" pitchFamily="49" charset="-122"/>
                  </a:rPr>
                  <a:t>牵连加速度</a:t>
                </a:r>
                <a:r>
                  <a:rPr lang="zh-CN" altLang="en-US" dirty="0">
                    <a:ea typeface="黑体" panose="02010609060101010101" pitchFamily="49" charset="-122"/>
                  </a:rPr>
                  <a:t>，包括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acc>
                          <m:accPr>
                            <m:chr m:val="⃗"/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𝜔</m:t>
                            </m:r>
                          </m:e>
                        </m:acc>
                      </m:e>
                    </m:acc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𝑟</m:t>
                        </m:r>
                      </m:e>
                    </m:acc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−</m:t>
                    </m:r>
                    <m:sSup>
                      <m:sSup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𝜔</m:t>
                        </m:r>
                      </m:e>
                      <m:sup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𝑅</m:t>
                        </m:r>
                      </m:e>
                    </m:acc>
                  </m:oMath>
                </a14:m>
                <a:r>
                  <a:rPr lang="zh-CN" altLang="en-US" dirty="0">
                    <a:ea typeface="黑体" panose="02010609060101010101" pitchFamily="49" charset="-122"/>
                  </a:rPr>
                  <a:t>两项，其中</a:t>
                </a:r>
                <a:endParaRPr lang="en-US" altLang="zh-CN" b="0" i="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𝑅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𝜔</m:t>
                              </m:r>
                            </m:e>
                          </m:acc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𝜔</m:t>
                              </m:r>
                            </m:e>
                          </m:acc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en-US" altLang="zh-CN" dirty="0">
                  <a:solidFill>
                    <a:srgbClr val="FF0000"/>
                  </a:solidFill>
                  <a:ea typeface="黑体" panose="02010609060101010101" pitchFamily="49" charset="-122"/>
                </a:endParaRPr>
              </a:p>
              <a:p>
                <a:pPr marL="342900" indent="-342900"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CN" altLang="en-US" dirty="0">
                    <a:ea typeface="黑体" panose="02010609060101010101" pitchFamily="49" charset="-122"/>
                  </a:rPr>
                  <a:t>：</a:t>
                </a:r>
                <a:r>
                  <a:rPr lang="zh-CN" altLang="en-US" dirty="0">
                    <a:solidFill>
                      <a:srgbClr val="FF0000"/>
                    </a:solidFill>
                    <a:ea typeface="黑体" panose="02010609060101010101" pitchFamily="49" charset="-122"/>
                  </a:rPr>
                  <a:t>科氏加速度</a:t>
                </a:r>
                <a:r>
                  <a:rPr lang="zh-CN" altLang="en-US" dirty="0">
                    <a:ea typeface="黑体" panose="02010609060101010101" pitchFamily="49" charset="-122"/>
                  </a:rPr>
                  <a:t>，为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2</m:t>
                    </m:r>
                    <m:acc>
                      <m:accPr>
                        <m:chr m:val="⃗"/>
                        <m:ctrlP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𝜔</m:t>
                        </m:r>
                      </m:e>
                    </m:acc>
                    <m:r>
                      <a:rPr lang="en-US" altLang="zh-CN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×</m:t>
                    </m:r>
                    <m:sSup>
                      <m:sSupPr>
                        <m:ctrlP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𝑣</m:t>
                            </m:r>
                          </m:e>
                        </m:acc>
                      </m:e>
                      <m:sup>
                        <m:r>
                          <a:rPr lang="en-US" altLang="zh-CN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′</m:t>
                        </m:r>
                      </m:sup>
                    </m:sSup>
                  </m:oMath>
                </a14:m>
                <a:endParaRPr lang="en-US" altLang="zh-CN" dirty="0"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88640"/>
                <a:ext cx="8712968" cy="3675109"/>
              </a:xfrm>
              <a:prstGeom prst="rect">
                <a:avLst/>
              </a:prstGeom>
              <a:blipFill rotWithShape="1">
                <a:blip r:embed="rId1"/>
                <a:stretch>
                  <a:fillRect l="-5" t="-1" r="7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4" name="组合 3"/>
          <p:cNvGrpSpPr/>
          <p:nvPr/>
        </p:nvGrpSpPr>
        <p:grpSpPr>
          <a:xfrm>
            <a:off x="3275856" y="3856325"/>
            <a:ext cx="2302110" cy="2392075"/>
            <a:chOff x="6706927" y="150607"/>
            <a:chExt cx="2302110" cy="2392075"/>
          </a:xfrm>
        </p:grpSpPr>
        <p:sp>
          <p:nvSpPr>
            <p:cNvPr id="5" name="任意多边形: 形状 4"/>
            <p:cNvSpPr/>
            <p:nvPr/>
          </p:nvSpPr>
          <p:spPr>
            <a:xfrm>
              <a:off x="6706927" y="693302"/>
              <a:ext cx="2302110" cy="1849380"/>
            </a:xfrm>
            <a:custGeom>
              <a:avLst/>
              <a:gdLst>
                <a:gd name="connsiteX0" fmla="*/ 40173 w 1632706"/>
                <a:gd name="connsiteY0" fmla="*/ 443975 h 1528362"/>
                <a:gd name="connsiteX1" fmla="*/ 1139058 w 1632706"/>
                <a:gd name="connsiteY1" fmla="*/ 34902 h 1528362"/>
                <a:gd name="connsiteX2" fmla="*/ 1604279 w 1632706"/>
                <a:gd name="connsiteY2" fmla="*/ 1286186 h 1528362"/>
                <a:gd name="connsiteX3" fmla="*/ 369037 w 1632706"/>
                <a:gd name="connsiteY3" fmla="*/ 1454628 h 1528362"/>
                <a:gd name="connsiteX4" fmla="*/ 40173 w 1632706"/>
                <a:gd name="connsiteY4" fmla="*/ 443975 h 152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32706" h="1528362">
                  <a:moveTo>
                    <a:pt x="40173" y="443975"/>
                  </a:moveTo>
                  <a:cubicBezTo>
                    <a:pt x="168510" y="207354"/>
                    <a:pt x="878374" y="-105466"/>
                    <a:pt x="1139058" y="34902"/>
                  </a:cubicBezTo>
                  <a:cubicBezTo>
                    <a:pt x="1399742" y="175270"/>
                    <a:pt x="1732616" y="1049565"/>
                    <a:pt x="1604279" y="1286186"/>
                  </a:cubicBezTo>
                  <a:cubicBezTo>
                    <a:pt x="1475942" y="1522807"/>
                    <a:pt x="628385" y="1600344"/>
                    <a:pt x="369037" y="1454628"/>
                  </a:cubicBezTo>
                  <a:cubicBezTo>
                    <a:pt x="109689" y="1308912"/>
                    <a:pt x="-88164" y="680596"/>
                    <a:pt x="40173" y="443975"/>
                  </a:cubicBezTo>
                  <a:close/>
                </a:path>
              </a:pathLst>
            </a:custGeom>
            <a:solidFill>
              <a:schemeClr val="bg1"/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" name="直接箭头连接符 5"/>
            <p:cNvCxnSpPr/>
            <p:nvPr/>
          </p:nvCxnSpPr>
          <p:spPr>
            <a:xfrm flipV="1">
              <a:off x="7181731" y="381440"/>
              <a:ext cx="0" cy="193926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弧形 6"/>
            <p:cNvSpPr/>
            <p:nvPr/>
          </p:nvSpPr>
          <p:spPr>
            <a:xfrm>
              <a:off x="6856877" y="612096"/>
              <a:ext cx="649706" cy="220579"/>
            </a:xfrm>
            <a:prstGeom prst="arc">
              <a:avLst>
                <a:gd name="adj1" fmla="val 20234095"/>
                <a:gd name="adj2" fmla="val 12612672"/>
              </a:avLst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矩形 7"/>
                <p:cNvSpPr/>
                <p:nvPr/>
              </p:nvSpPr>
              <p:spPr>
                <a:xfrm>
                  <a:off x="7181731" y="150607"/>
                  <a:ext cx="483145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𝜔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" name="矩形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1731" y="150607"/>
                  <a:ext cx="483145" cy="461665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直接箭头连接符 8"/>
            <p:cNvCxnSpPr/>
            <p:nvPr/>
          </p:nvCxnSpPr>
          <p:spPr>
            <a:xfrm flipV="1">
              <a:off x="7181731" y="1362321"/>
              <a:ext cx="1211179" cy="95838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/>
            <p:nvPr/>
          </p:nvCxnSpPr>
          <p:spPr>
            <a:xfrm>
              <a:off x="7198720" y="1351073"/>
              <a:ext cx="1194190" cy="0"/>
            </a:xfrm>
            <a:prstGeom prst="straightConnector1">
              <a:avLst/>
            </a:prstGeom>
            <a:ln w="381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矩形 10"/>
                <p:cNvSpPr/>
                <p:nvPr/>
              </p:nvSpPr>
              <p:spPr>
                <a:xfrm>
                  <a:off x="7711122" y="887135"/>
                  <a:ext cx="458202" cy="5064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𝑅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11" name="矩形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1122" y="887135"/>
                  <a:ext cx="458202" cy="506421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矩形 11"/>
                <p:cNvSpPr/>
                <p:nvPr/>
              </p:nvSpPr>
              <p:spPr>
                <a:xfrm>
                  <a:off x="7654882" y="1837736"/>
                  <a:ext cx="40620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𝑟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" name="矩形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4882" y="1837736"/>
                  <a:ext cx="406200" cy="461665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179512" y="188640"/>
                <a:ext cx="8712968" cy="356616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lang="en-US" altLang="zh-CN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𝜔</m:t>
                              </m:r>
                            </m:e>
                          </m:acc>
                        </m:e>
                      </m:acc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𝑅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2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dirty="0">
                  <a:ea typeface="黑体" panose="02010609060101010101" pitchFamily="49" charset="-122"/>
                </a:endParaRPr>
              </a:p>
              <a:p>
                <a:pPr marL="342900" indent="-342900"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ea typeface="黑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𝑃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点</m:t>
                    </m:r>
                  </m:oMath>
                </a14:m>
                <a:r>
                  <a:rPr lang="zh-CN" altLang="en-US" dirty="0">
                    <a:ea typeface="黑体" panose="02010609060101010101" pitchFamily="49" charset="-122"/>
                  </a:rPr>
                  <a:t>取为刚体上一点，则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𝑣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𝑎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dirty="0">
                    <a:ea typeface="黑体" panose="02010609060101010101" pitchFamily="49" charset="-122"/>
                  </a:rPr>
                  <a:t>，回到定点运动中刚体上任意点的加速度公式</a:t>
                </a:r>
                <a:endParaRPr lang="en-US" altLang="zh-CN" dirty="0">
                  <a:ea typeface="黑体" panose="02010609060101010101" pitchFamily="49" charset="-122"/>
                </a:endParaRPr>
              </a:p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𝜔</m:t>
                              </m:r>
                            </m:e>
                          </m:acc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𝑅</m:t>
                          </m:r>
                        </m:e>
                      </m:acc>
                    </m:oMath>
                  </m:oMathPara>
                </a14:m>
                <a:endParaRPr lang="en-US" altLang="zh-CN" dirty="0">
                  <a:ea typeface="黑体" panose="02010609060101010101" pitchFamily="49" charset="-122"/>
                </a:endParaRPr>
              </a:p>
              <a:p>
                <a:pPr marL="342900" indent="-342900"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ea typeface="黑体" panose="02010609060101010101" pitchFamily="49" charset="-122"/>
                  </a:rPr>
                  <a:t>注意，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𝜔</m:t>
                        </m:r>
                      </m:e>
                    </m:acc>
                  </m:oMath>
                </a14:m>
                <a:r>
                  <a:rPr lang="zh-CN" altLang="en-US" dirty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是在地面参考系中</a:t>
                </a:r>
                <a:r>
                  <a:rPr lang="zh-CN" altLang="en-US" dirty="0">
                    <a:ea typeface="黑体" panose="02010609060101010101" pitchFamily="49" charset="-122"/>
                  </a:rPr>
                  <a:t>观察到的转动参照物</a:t>
                </a:r>
                <a:r>
                  <a:rPr lang="zh-CN" altLang="en-US" dirty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（刚体）的角速度</a:t>
                </a:r>
                <a:r>
                  <a:rPr lang="zh-CN" altLang="en-US" dirty="0">
                    <a:ea typeface="黑体" panose="02010609060101010101" pitchFamily="49" charset="-122"/>
                  </a:rPr>
                  <a:t>。（不同的转动系中，观察到的角速度不相同）</a:t>
                </a:r>
                <a:endParaRPr lang="en-US" altLang="zh-CN" dirty="0"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88640"/>
                <a:ext cx="8712968" cy="3566169"/>
              </a:xfrm>
              <a:prstGeom prst="rect">
                <a:avLst/>
              </a:prstGeom>
              <a:blipFill rotWithShape="1">
                <a:blip r:embed="rId1"/>
                <a:stretch>
                  <a:fillRect l="-5" t="-1" r="7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108539" y="836712"/>
                <a:ext cx="8712968" cy="555491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marL="342900" indent="-342900"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仅考虑质点在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平面内的运动</a:t>
                </a:r>
                <a:r>
                  <a:rPr lang="zh-CN" altLang="en-US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𝑟</m:t>
                        </m:r>
                      </m:e>
                    </m:acc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acc>
                      <m:accPr>
                        <m:chr m:val="⃗"/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𝑖</m:t>
                        </m:r>
                      </m:e>
                    </m:acc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𝑦</m:t>
                    </m:r>
                    <m:acc>
                      <m:accPr>
                        <m:chr m:val="⃗"/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𝑗</m:t>
                        </m:r>
                      </m:e>
                    </m:acc>
                  </m:oMath>
                </a14:m>
                <a:endParaRPr lang="en-US" altLang="zh-CN" dirty="0">
                  <a:solidFill>
                    <a:schemeClr val="tx1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  <a:p>
                <a:pPr marL="342900" indent="-342900"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参考系变换仅涉及绕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𝑧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轴的转动，故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𝜔</m:t>
                        </m:r>
                      </m:e>
                    </m:acc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𝜔</m:t>
                    </m:r>
                    <m:acc>
                      <m:accPr>
                        <m:chr m:val="⃗"/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𝑘</m:t>
                        </m:r>
                      </m:e>
                    </m:acc>
                  </m:oMath>
                </a14:m>
                <a:endParaRPr lang="en-US" altLang="zh-CN" dirty="0">
                  <a:solidFill>
                    <a:schemeClr val="tx1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</a:pPr>
                <a:r>
                  <a:rPr lang="zh-CN" altLang="en-US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在以上简化下，从转轴到质点的位矢分量简化为</a:t>
                </a:r>
                <a:endParaRPr lang="en-US" altLang="zh-CN" dirty="0">
                  <a:solidFill>
                    <a:schemeClr val="tx1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𝑅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</m:acc>
                      <m:r>
                        <a:rPr lang="en-US" altLang="zh-CN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d>
                        <m:dPr>
                          <m:ctrlPr>
                            <a:rPr lang="en-US" altLang="zh-CN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zh-CN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zh-CN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𝑘</m:t>
                              </m:r>
                            </m:e>
                          </m:acc>
                        </m:e>
                      </m:d>
                      <m:acc>
                        <m:accPr>
                          <m:chr m:val="⃗"/>
                          <m:ctrlPr>
                            <a:rPr lang="en-US" altLang="zh-CN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𝑘</m:t>
                          </m:r>
                        </m:e>
                      </m:acc>
                      <m:r>
                        <a:rPr lang="en-US" altLang="zh-CN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zh-CN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en-US" altLang="zh-CN" dirty="0">
                  <a:solidFill>
                    <a:srgbClr val="0000FF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:r>
                  <a:rPr lang="zh-CN" altLang="en-US" dirty="0">
                    <a:ea typeface="黑体" panose="02010609060101010101" pitchFamily="49" charset="-122"/>
                  </a:rPr>
                  <a:t>因此平面转动参考系的速度和加速度变换公式为</a:t>
                </a:r>
                <a:endParaRPr lang="en-US" altLang="zh-CN" dirty="0">
                  <a:ea typeface="黑体" panose="02010609060101010101" pitchFamily="49" charset="-122"/>
                </a:endParaRPr>
              </a:p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en-US" altLang="zh-CN" dirty="0">
                  <a:ea typeface="黑体" panose="02010609060101010101" pitchFamily="49" charset="-122"/>
                </a:endParaRPr>
              </a:p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𝜔</m:t>
                              </m:r>
                            </m:e>
                          </m:acc>
                        </m:e>
                      </m:acc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2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dirty="0">
                  <a:ea typeface="黑体" panose="02010609060101010101" pitchFamily="49" charset="-122"/>
                </a:endParaRPr>
              </a:p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:r>
                  <a:rPr lang="zh-CN" altLang="en-US" dirty="0">
                    <a:ea typeface="黑体" panose="02010609060101010101" pitchFamily="49" charset="-122"/>
                  </a:rPr>
                  <a:t>仅将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𝜔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𝑅</m:t>
                        </m:r>
                      </m:e>
                    </m:acc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→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𝜔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𝑟</m:t>
                        </m:r>
                      </m:e>
                    </m:acc>
                  </m:oMath>
                </a14:m>
                <a:endParaRPr lang="en-US" altLang="zh-CN" dirty="0">
                  <a:ea typeface="黑体" panose="02010609060101010101" pitchFamily="49" charset="-122"/>
                </a:endParaRPr>
              </a:p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:endParaRPr lang="en-US" altLang="zh-CN" dirty="0"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39" y="836712"/>
                <a:ext cx="8712968" cy="5554919"/>
              </a:xfrm>
              <a:prstGeom prst="rect">
                <a:avLst/>
              </a:prstGeom>
              <a:blipFill rotWithShape="1">
                <a:blip r:embed="rId1"/>
                <a:stretch>
                  <a:fillRect l="-7" t="-8" r="1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140147" y="205272"/>
            <a:ext cx="4515980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三、简化情形：平面转动参考系</a:t>
            </a:r>
            <a:endParaRPr lang="zh-CN" altLang="en-US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7" name="Group 3"/>
          <p:cNvGrpSpPr/>
          <p:nvPr/>
        </p:nvGrpSpPr>
        <p:grpSpPr bwMode="auto">
          <a:xfrm>
            <a:off x="304800" y="1884363"/>
            <a:ext cx="8256588" cy="2922587"/>
            <a:chOff x="209" y="2025"/>
            <a:chExt cx="5201" cy="1841"/>
          </a:xfrm>
        </p:grpSpPr>
        <p:sp>
          <p:nvSpPr>
            <p:cNvPr id="33796" name="Text Box 4"/>
            <p:cNvSpPr txBox="1">
              <a:spLocks noChangeArrowheads="1"/>
            </p:cNvSpPr>
            <p:nvPr/>
          </p:nvSpPr>
          <p:spPr bwMode="auto">
            <a:xfrm>
              <a:off x="209" y="2025"/>
              <a:ext cx="3372" cy="16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40000"/>
                </a:lnSpc>
                <a:spcBef>
                  <a:spcPct val="10000"/>
                </a:spcBef>
              </a:pPr>
              <a:r>
                <a:rPr lang="zh-CN" altLang="en-US" dirty="0">
                  <a:solidFill>
                    <a:srgbClr val="C00000"/>
                  </a:solidFill>
                  <a:ea typeface="黑体" panose="02010609060101010101" pitchFamily="49" charset="-122"/>
                </a:rPr>
                <a:t>　    设一圆盘以匀角速度</a:t>
              </a:r>
              <a:r>
                <a:rPr lang="zh-CN" altLang="en-US" i="1" dirty="0">
                  <a:solidFill>
                    <a:srgbClr val="C00000"/>
                  </a:solidFill>
                  <a:ea typeface="黑体" panose="02010609060101010101" pitchFamily="49" charset="-122"/>
                  <a:sym typeface="Symbol" panose="05050102010706020507" pitchFamily="2" charset="2"/>
                </a:rPr>
                <a:t> </a:t>
              </a:r>
              <a:r>
                <a:rPr lang="zh-CN" altLang="en-US" dirty="0">
                  <a:solidFill>
                    <a:srgbClr val="C00000"/>
                  </a:solidFill>
                  <a:ea typeface="黑体" panose="02010609060101010101" pitchFamily="49" charset="-122"/>
                </a:rPr>
                <a:t>绕定轴</a:t>
              </a:r>
              <a:r>
                <a:rPr lang="zh-CN" altLang="en-US" i="1" dirty="0">
                  <a:solidFill>
                    <a:srgbClr val="C00000"/>
                  </a:solidFill>
                  <a:ea typeface="黑体" panose="02010609060101010101" pitchFamily="49" charset="-122"/>
                </a:rPr>
                <a:t>Ｏ</a:t>
              </a:r>
              <a:r>
                <a:rPr lang="zh-CN" altLang="en-US" dirty="0">
                  <a:solidFill>
                    <a:srgbClr val="C00000"/>
                  </a:solidFill>
                  <a:ea typeface="黑体" panose="02010609060101010101" pitchFamily="49" charset="-122"/>
                </a:rPr>
                <a:t>顺时针转动，盘上圆槽内有一点</a:t>
              </a:r>
              <a:r>
                <a:rPr lang="en-US" altLang="zh-CN" i="1" dirty="0">
                  <a:solidFill>
                    <a:srgbClr val="C00000"/>
                  </a:solidFill>
                  <a:ea typeface="黑体" panose="02010609060101010101" pitchFamily="49" charset="-122"/>
                </a:rPr>
                <a:t>M</a:t>
              </a:r>
              <a:r>
                <a:rPr lang="zh-CN" altLang="en-US" dirty="0">
                  <a:solidFill>
                    <a:srgbClr val="C00000"/>
                  </a:solidFill>
                  <a:ea typeface="黑体" panose="02010609060101010101" pitchFamily="49" charset="-122"/>
                </a:rPr>
                <a:t>以大小不变的速度 </a:t>
              </a:r>
              <a:r>
                <a:rPr lang="en-US" altLang="zh-CN" i="1" dirty="0" err="1">
                  <a:solidFill>
                    <a:srgbClr val="C00000"/>
                  </a:solidFill>
                  <a:ea typeface="黑体" panose="02010609060101010101" pitchFamily="49" charset="-122"/>
                </a:rPr>
                <a:t>v</a:t>
              </a:r>
              <a:r>
                <a:rPr lang="en-US" altLang="zh-CN" i="1" baseline="-25000" dirty="0" err="1">
                  <a:solidFill>
                    <a:srgbClr val="C00000"/>
                  </a:solidFill>
                  <a:ea typeface="黑体" panose="02010609060101010101" pitchFamily="49" charset="-122"/>
                </a:rPr>
                <a:t>r</a:t>
              </a:r>
              <a:r>
                <a:rPr lang="en-US" altLang="zh-CN" baseline="-25000" dirty="0">
                  <a:solidFill>
                    <a:srgbClr val="C00000"/>
                  </a:solidFill>
                  <a:ea typeface="黑体" panose="02010609060101010101" pitchFamily="49" charset="-122"/>
                </a:rPr>
                <a:t> </a:t>
              </a:r>
              <a:r>
                <a:rPr lang="zh-CN" altLang="en-US" dirty="0">
                  <a:solidFill>
                    <a:srgbClr val="C00000"/>
                  </a:solidFill>
                  <a:ea typeface="黑体" panose="02010609060101010101" pitchFamily="49" charset="-122"/>
                </a:rPr>
                <a:t>沿槽作圆周运动，那么</a:t>
              </a:r>
              <a:r>
                <a:rPr lang="en-US" altLang="zh-CN" i="1" dirty="0">
                  <a:solidFill>
                    <a:srgbClr val="C00000"/>
                  </a:solidFill>
                  <a:ea typeface="黑体" panose="02010609060101010101" pitchFamily="49" charset="-122"/>
                </a:rPr>
                <a:t>M</a:t>
              </a:r>
              <a:r>
                <a:rPr lang="zh-CN" altLang="en-US" dirty="0">
                  <a:solidFill>
                    <a:srgbClr val="C00000"/>
                  </a:solidFill>
                  <a:ea typeface="黑体" panose="02010609060101010101" pitchFamily="49" charset="-122"/>
                </a:rPr>
                <a:t>点相对于静系的绝对加速度应是多少呢？</a:t>
              </a:r>
              <a:endParaRPr lang="zh-CN" altLang="en-US" dirty="0">
                <a:solidFill>
                  <a:srgbClr val="C00000"/>
                </a:solidFill>
                <a:ea typeface="黑体" panose="02010609060101010101" pitchFamily="49" charset="-122"/>
              </a:endParaRPr>
            </a:p>
          </p:txBody>
        </p:sp>
        <p:graphicFrame>
          <p:nvGraphicFramePr>
            <p:cNvPr id="33797" name="Object 5"/>
            <p:cNvGraphicFramePr>
              <a:graphicFrameLocks noChangeAspect="1"/>
            </p:cNvGraphicFramePr>
            <p:nvPr/>
          </p:nvGraphicFramePr>
          <p:xfrm>
            <a:off x="3581" y="2042"/>
            <a:ext cx="1829" cy="18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47" name="BMP 图象" r:id="rId1" imgW="2903220" imgH="2895600" progId="Paint.Picture">
                    <p:embed/>
                  </p:oleObj>
                </mc:Choice>
                <mc:Fallback>
                  <p:oleObj name="BMP 图象" r:id="rId1" imgW="2903220" imgH="2895600" progId="Paint.Picture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1" y="2042"/>
                          <a:ext cx="1829" cy="18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795" name="Text Box 7"/>
          <p:cNvSpPr txBox="1">
            <a:spLocks noChangeArrowheads="1"/>
          </p:cNvSpPr>
          <p:nvPr/>
        </p:nvSpPr>
        <p:spPr bwMode="auto">
          <a:xfrm>
            <a:off x="539750" y="404813"/>
            <a:ext cx="813043" cy="52322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ea typeface="黑体" panose="02010609060101010101" pitchFamily="49" charset="-122"/>
              </a:rPr>
              <a:t>4 </a:t>
            </a:r>
            <a:endParaRPr lang="zh-CN" altLang="en-US" sz="2800" dirty="0">
              <a:ea typeface="黑体" panose="02010609060101010101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Object 3"/>
          <p:cNvGraphicFramePr>
            <a:graphicFrameLocks noChangeAspect="1"/>
          </p:cNvGraphicFramePr>
          <p:nvPr/>
        </p:nvGraphicFramePr>
        <p:xfrm>
          <a:off x="5780088" y="822325"/>
          <a:ext cx="2903537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45" name="BMP 图象" r:id="rId1" imgW="2903220" imgH="2895600" progId="Paint.Picture">
                  <p:embed/>
                </p:oleObj>
              </mc:Choice>
              <mc:Fallback>
                <p:oleObj name="BMP 图象" r:id="rId1" imgW="2903220" imgH="2895600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0088" y="822325"/>
                        <a:ext cx="2903537" cy="289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35921" dir="27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652" name="Group 4"/>
          <p:cNvGrpSpPr/>
          <p:nvPr/>
        </p:nvGrpSpPr>
        <p:grpSpPr bwMode="auto">
          <a:xfrm>
            <a:off x="504825" y="2111375"/>
            <a:ext cx="5305425" cy="1273175"/>
            <a:chOff x="318" y="1330"/>
            <a:chExt cx="3342" cy="802"/>
          </a:xfrm>
        </p:grpSpPr>
        <p:graphicFrame>
          <p:nvGraphicFramePr>
            <p:cNvPr id="35854" name="Object 5"/>
            <p:cNvGraphicFramePr>
              <a:graphicFrameLocks noChangeAspect="1"/>
            </p:cNvGraphicFramePr>
            <p:nvPr/>
          </p:nvGraphicFramePr>
          <p:xfrm>
            <a:off x="344" y="1640"/>
            <a:ext cx="1898" cy="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46" name="公式" r:id="rId3" imgW="31699200" imgH="10363200" progId="Equation.3">
                    <p:embed/>
                  </p:oleObj>
                </mc:Choice>
                <mc:Fallback>
                  <p:oleObj name="公式" r:id="rId3" imgW="31699200" imgH="103632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" y="1640"/>
                          <a:ext cx="1898" cy="4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55" name="Text Box 6"/>
            <p:cNvSpPr txBox="1">
              <a:spLocks noChangeArrowheads="1"/>
            </p:cNvSpPr>
            <p:nvPr/>
          </p:nvSpPr>
          <p:spPr bwMode="auto">
            <a:xfrm>
              <a:off x="318" y="1330"/>
              <a:ext cx="24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accent2"/>
                  </a:solidFill>
                  <a:ea typeface="黑体" panose="02010609060101010101" pitchFamily="49" charset="-122"/>
                </a:rPr>
                <a:t>相对运动</a:t>
              </a:r>
              <a:r>
                <a:rPr lang="zh-CN" altLang="en-US">
                  <a:ea typeface="黑体" panose="02010609060101010101" pitchFamily="49" charset="-122"/>
                </a:rPr>
                <a:t>为匀速圆周运动，</a:t>
              </a:r>
              <a:endParaRPr lang="zh-CN" altLang="en-US">
                <a:ea typeface="黑体" panose="02010609060101010101" pitchFamily="49" charset="-122"/>
              </a:endParaRPr>
            </a:p>
          </p:txBody>
        </p:sp>
        <p:sp>
          <p:nvSpPr>
            <p:cNvPr id="35856" name="Text Box 7"/>
            <p:cNvSpPr txBox="1">
              <a:spLocks noChangeArrowheads="1"/>
            </p:cNvSpPr>
            <p:nvPr/>
          </p:nvSpPr>
          <p:spPr bwMode="auto">
            <a:xfrm>
              <a:off x="2392" y="1766"/>
              <a:ext cx="1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ea typeface="黑体" panose="02010609060101010101" pitchFamily="49" charset="-122"/>
                </a:rPr>
                <a:t>（方向如图）</a:t>
              </a:r>
              <a:endParaRPr lang="zh-CN" altLang="en-US">
                <a:ea typeface="黑体" panose="02010609060101010101" pitchFamily="49" charset="-122"/>
              </a:endParaRPr>
            </a:p>
          </p:txBody>
        </p:sp>
      </p:grpSp>
      <p:sp>
        <p:nvSpPr>
          <p:cNvPr id="27656" name="Text Box 8"/>
          <p:cNvSpPr txBox="1">
            <a:spLocks noChangeArrowheads="1"/>
          </p:cNvSpPr>
          <p:nvPr/>
        </p:nvSpPr>
        <p:spPr bwMode="auto">
          <a:xfrm>
            <a:off x="468313" y="3384550"/>
            <a:ext cx="323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由速度合成定理可得出</a:t>
            </a:r>
            <a:endParaRPr lang="zh-CN" altLang="en-US">
              <a:ea typeface="黑体" panose="02010609060101010101" pitchFamily="49" charset="-122"/>
            </a:endParaRPr>
          </a:p>
        </p:txBody>
      </p:sp>
      <p:graphicFrame>
        <p:nvGraphicFramePr>
          <p:cNvPr id="27657" name="Object 9"/>
          <p:cNvGraphicFramePr>
            <a:graphicFrameLocks noChangeAspect="1"/>
          </p:cNvGraphicFramePr>
          <p:nvPr/>
        </p:nvGraphicFramePr>
        <p:xfrm>
          <a:off x="982663" y="3952875"/>
          <a:ext cx="3636962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47" name="公式" r:id="rId5" imgW="39624000" imgH="5791200" progId="Equation.3">
                  <p:embed/>
                </p:oleObj>
              </mc:Choice>
              <mc:Fallback>
                <p:oleObj name="公式" r:id="rId5" imgW="39624000" imgH="5791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663" y="3952875"/>
                        <a:ext cx="3636962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8" name="Text Box 10"/>
          <p:cNvSpPr txBox="1">
            <a:spLocks noChangeArrowheads="1"/>
          </p:cNvSpPr>
          <p:nvPr/>
        </p:nvSpPr>
        <p:spPr bwMode="auto">
          <a:xfrm>
            <a:off x="381000" y="635431"/>
            <a:ext cx="5032375" cy="9548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"/>
              </a:spcBef>
            </a:pPr>
            <a:r>
              <a:rPr lang="zh-CN" altLang="en-US" dirty="0">
                <a:solidFill>
                  <a:srgbClr val="0000FF"/>
                </a:solidFill>
                <a:ea typeface="黑体" panose="02010609060101010101" pitchFamily="49" charset="-122"/>
              </a:rPr>
              <a:t>选点</a:t>
            </a:r>
            <a:r>
              <a:rPr lang="en-US" altLang="zh-CN" i="1" dirty="0">
                <a:solidFill>
                  <a:srgbClr val="0000FF"/>
                </a:solidFill>
                <a:ea typeface="黑体" panose="02010609060101010101" pitchFamily="49" charset="-122"/>
              </a:rPr>
              <a:t>M</a:t>
            </a:r>
            <a:r>
              <a:rPr lang="zh-CN" altLang="en-US" dirty="0">
                <a:solidFill>
                  <a:srgbClr val="0000FF"/>
                </a:solidFill>
                <a:ea typeface="黑体" panose="02010609060101010101" pitchFamily="49" charset="-122"/>
              </a:rPr>
              <a:t>为动点，动系固结于圆盘上</a:t>
            </a:r>
            <a:r>
              <a:rPr lang="zh-CN" altLang="en-US" dirty="0">
                <a:ea typeface="黑体" panose="02010609060101010101" pitchFamily="49" charset="-122"/>
              </a:rPr>
              <a:t>，</a:t>
            </a:r>
            <a:endParaRPr lang="zh-CN" altLang="en-US" dirty="0"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5000"/>
              </a:spcBef>
            </a:pPr>
            <a:r>
              <a:rPr lang="zh-CN" altLang="en-US" dirty="0">
                <a:ea typeface="黑体" panose="02010609060101010101" pitchFamily="49" charset="-122"/>
              </a:rPr>
              <a:t>则</a:t>
            </a:r>
            <a:r>
              <a:rPr lang="en-US" altLang="zh-CN" i="1" dirty="0">
                <a:ea typeface="黑体" panose="02010609060101010101" pitchFamily="49" charset="-122"/>
              </a:rPr>
              <a:t>M</a:t>
            </a:r>
            <a:r>
              <a:rPr lang="zh-CN" altLang="en-US" dirty="0">
                <a:ea typeface="黑体" panose="02010609060101010101" pitchFamily="49" charset="-122"/>
              </a:rPr>
              <a:t>点的</a:t>
            </a:r>
            <a:r>
              <a:rPr lang="zh-CN" altLang="en-US" dirty="0">
                <a:solidFill>
                  <a:srgbClr val="0000FF"/>
                </a:solidFill>
                <a:ea typeface="黑体" panose="02010609060101010101" pitchFamily="49" charset="-122"/>
              </a:rPr>
              <a:t>牵连运动</a:t>
            </a:r>
            <a:r>
              <a:rPr lang="zh-CN" altLang="en-US" dirty="0">
                <a:ea typeface="黑体" panose="02010609060101010101" pitchFamily="49" charset="-122"/>
              </a:rPr>
              <a:t>为匀速转动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p:graphicFrame>
        <p:nvGraphicFramePr>
          <p:cNvPr id="27659" name="Object 11"/>
          <p:cNvGraphicFramePr>
            <a:graphicFrameLocks noChangeAspect="1"/>
          </p:cNvGraphicFramePr>
          <p:nvPr/>
        </p:nvGraphicFramePr>
        <p:xfrm>
          <a:off x="501650" y="1627188"/>
          <a:ext cx="260985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48" name="公式" r:id="rId7" imgW="26517600" imgH="5486400" progId="Equation.3">
                  <p:embed/>
                </p:oleObj>
              </mc:Choice>
              <mc:Fallback>
                <p:oleObj name="公式" r:id="rId7" imgW="26517600" imgH="54864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" y="1627188"/>
                        <a:ext cx="2609850" cy="4714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0" name="Text Box 12"/>
          <p:cNvSpPr txBox="1">
            <a:spLocks noChangeArrowheads="1"/>
          </p:cNvSpPr>
          <p:nvPr/>
        </p:nvSpPr>
        <p:spPr bwMode="auto">
          <a:xfrm>
            <a:off x="3652838" y="1616075"/>
            <a:ext cx="20129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ea typeface="黑体" panose="02010609060101010101" pitchFamily="49" charset="-122"/>
              </a:rPr>
              <a:t>（方向如图）</a:t>
            </a:r>
            <a:endParaRPr lang="zh-CN" altLang="en-US">
              <a:ea typeface="黑体" panose="02010609060101010101" pitchFamily="49" charset="-122"/>
            </a:endParaRPr>
          </a:p>
        </p:txBody>
      </p:sp>
      <p:grpSp>
        <p:nvGrpSpPr>
          <p:cNvPr id="27661" name="Group 13"/>
          <p:cNvGrpSpPr/>
          <p:nvPr/>
        </p:nvGrpSpPr>
        <p:grpSpPr bwMode="auto">
          <a:xfrm>
            <a:off x="463550" y="4524375"/>
            <a:ext cx="5827713" cy="1844675"/>
            <a:chOff x="292" y="2850"/>
            <a:chExt cx="3671" cy="1162"/>
          </a:xfrm>
        </p:grpSpPr>
        <p:sp>
          <p:nvSpPr>
            <p:cNvPr id="35851" name="Text Box 14"/>
            <p:cNvSpPr txBox="1">
              <a:spLocks noChangeArrowheads="1"/>
            </p:cNvSpPr>
            <p:nvPr/>
          </p:nvSpPr>
          <p:spPr bwMode="auto">
            <a:xfrm>
              <a:off x="292" y="2850"/>
              <a:ext cx="3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ea typeface="黑体" panose="02010609060101010101" pitchFamily="49" charset="-122"/>
                </a:rPr>
                <a:t>即</a:t>
              </a:r>
              <a:r>
                <a:rPr lang="zh-CN" altLang="en-US">
                  <a:solidFill>
                    <a:srgbClr val="FF3300"/>
                  </a:solidFill>
                  <a:ea typeface="黑体" panose="02010609060101010101" pitchFamily="49" charset="-122"/>
                </a:rPr>
                <a:t>绝对运动</a:t>
              </a:r>
              <a:r>
                <a:rPr lang="zh-CN" altLang="en-US">
                  <a:ea typeface="黑体" panose="02010609060101010101" pitchFamily="49" charset="-122"/>
                </a:rPr>
                <a:t>也为匀速圆周运动，所以</a:t>
              </a:r>
              <a:endParaRPr lang="zh-CN" altLang="en-US">
                <a:ea typeface="黑体" panose="02010609060101010101" pitchFamily="49" charset="-122"/>
              </a:endParaRPr>
            </a:p>
          </p:txBody>
        </p:sp>
        <p:graphicFrame>
          <p:nvGraphicFramePr>
            <p:cNvPr id="35852" name="Object 15"/>
            <p:cNvGraphicFramePr>
              <a:graphicFrameLocks noChangeAspect="1"/>
            </p:cNvGraphicFramePr>
            <p:nvPr/>
          </p:nvGraphicFramePr>
          <p:xfrm>
            <a:off x="652" y="3194"/>
            <a:ext cx="3311" cy="5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49" name="公式" r:id="rId9" imgW="56083200" imgH="9753600" progId="Equation.3">
                    <p:embed/>
                  </p:oleObj>
                </mc:Choice>
                <mc:Fallback>
                  <p:oleObj name="公式" r:id="rId9" imgW="56083200" imgH="97536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2" y="3194"/>
                          <a:ext cx="3311" cy="5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53" name="Text Box 16"/>
            <p:cNvSpPr txBox="1">
              <a:spLocks noChangeArrowheads="1"/>
            </p:cNvSpPr>
            <p:nvPr/>
          </p:nvSpPr>
          <p:spPr bwMode="auto">
            <a:xfrm>
              <a:off x="330" y="3724"/>
              <a:ext cx="16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ea typeface="黑体" panose="02010609060101010101" pitchFamily="49" charset="-122"/>
                </a:rPr>
                <a:t>方向指向圆心</a:t>
              </a:r>
              <a:r>
                <a:rPr lang="zh-CN" altLang="en-US" i="1">
                  <a:ea typeface="黑体" panose="02010609060101010101" pitchFamily="49" charset="-122"/>
                </a:rPr>
                <a:t>Ｏ</a:t>
              </a:r>
              <a:r>
                <a:rPr lang="zh-CN" altLang="en-US">
                  <a:ea typeface="黑体" panose="02010609060101010101" pitchFamily="49" charset="-122"/>
                </a:rPr>
                <a:t>点</a:t>
              </a:r>
              <a:endParaRPr lang="zh-CN" altLang="en-US"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27665" name="Object 17"/>
          <p:cNvGraphicFramePr>
            <a:graphicFrameLocks noChangeAspect="1"/>
          </p:cNvGraphicFramePr>
          <p:nvPr/>
        </p:nvGraphicFramePr>
        <p:xfrm>
          <a:off x="5821363" y="758825"/>
          <a:ext cx="2873375" cy="297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50" name="BMP 图象" r:id="rId11" imgW="2872740" imgH="2979420" progId="Paint.Picture">
                  <p:embed/>
                </p:oleObj>
              </mc:Choice>
              <mc:Fallback>
                <p:oleObj name="BMP 图象" r:id="rId11" imgW="2872740" imgH="2979420" progId="Paint.Picture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1363" y="758825"/>
                        <a:ext cx="2873375" cy="297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35921" dir="27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7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6" grpId="0" autoUpdateAnimBg="0"/>
      <p:bldP spid="27658" grpId="0" animBg="1" autoUpdateAnimBg="0"/>
      <p:bldP spid="27660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2013" name="Text Box 5"/>
              <p:cNvSpPr txBox="1">
                <a:spLocks noChangeArrowheads="1"/>
              </p:cNvSpPr>
              <p:nvPr/>
            </p:nvSpPr>
            <p:spPr bwMode="auto">
              <a:xfrm>
                <a:off x="65042" y="829136"/>
                <a:ext cx="5600728" cy="36806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𝜔</m:t>
                              </m:r>
                            </m:e>
                          </m:acc>
                        </m:e>
                      </m:acc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𝑅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2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dirty="0"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150000"/>
                  </a:lnSpc>
                </a:pPr>
                <a:r>
                  <a:rPr lang="zh-CN" altLang="en-US" dirty="0">
                    <a:ea typeface="黑体" panose="02010609060101010101" pitchFamily="49" charset="-122"/>
                  </a:rPr>
                  <a:t>如果</a:t>
                </a:r>
                <a:r>
                  <a:rPr lang="en-US" altLang="zh-CN" dirty="0">
                    <a:ea typeface="黑体" panose="02010609060101010101" pitchFamily="49" charset="-122"/>
                  </a:rPr>
                  <a:t>s ′</a:t>
                </a:r>
                <a:r>
                  <a:rPr lang="zh-CN" altLang="en-US" dirty="0">
                    <a:ea typeface="黑体" panose="02010609060101010101" pitchFamily="49" charset="-122"/>
                  </a:rPr>
                  <a:t>系以匀角速转动，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𝜔</m:t>
                        </m:r>
                      </m:e>
                    </m:acc>
                  </m:oMath>
                </a14:m>
                <a:r>
                  <a:rPr lang="zh-CN" altLang="en-US" dirty="0">
                    <a:ea typeface="黑体" panose="02010609060101010101" pitchFamily="49" charset="-122"/>
                  </a:rPr>
                  <a:t>是恒矢量，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𝜔</m:t>
                            </m:r>
                          </m:e>
                        </m:acc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dirty="0">
                    <a:ea typeface="黑体" panose="02010609060101010101" pitchFamily="49" charset="-122"/>
                  </a:rPr>
                  <a:t>，加速度公式可简化为</a:t>
                </a:r>
                <a:endParaRPr lang="en-US" altLang="zh-CN" dirty="0"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𝑅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2</m:t>
                      </m:r>
                      <m:acc>
                        <m:accPr>
                          <m:chr m:val="⃗"/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lang="en-US" altLang="zh-CN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b="0" dirty="0">
                  <a:solidFill>
                    <a:srgbClr val="0000FF"/>
                  </a:solidFill>
                  <a:ea typeface="黑体" panose="02010609060101010101" pitchFamily="49" charset="-122"/>
                </a:endParaRPr>
              </a:p>
              <a:p>
                <a:pPr marL="457200" indent="-457200" eaLnBrk="1" hangingPunct="1">
                  <a:lnSpc>
                    <a:spcPct val="150000"/>
                  </a:lnSpc>
                  <a:buAutoNum type="arabicParenBoth"/>
                </a:pPr>
                <a:r>
                  <a:rPr lang="en-US" altLang="zh-CN" b="0" dirty="0"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−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𝜔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𝑅</m:t>
                        </m:r>
                      </m:e>
                    </m:acc>
                  </m:oMath>
                </a14:m>
                <a:r>
                  <a:rPr lang="zh-CN" altLang="en-US" dirty="0">
                    <a:ea typeface="黑体" panose="02010609060101010101" pitchFamily="49" charset="-122"/>
                  </a:rPr>
                  <a:t>：</a:t>
                </a:r>
                <a:r>
                  <a:rPr lang="zh-CN" altLang="en-US" b="1" dirty="0">
                    <a:solidFill>
                      <a:srgbClr val="FF0000"/>
                    </a:solidFill>
                    <a:ea typeface="黑体" panose="02010609060101010101" pitchFamily="49" charset="-122"/>
                  </a:rPr>
                  <a:t>向轴加速度</a:t>
                </a:r>
                <a:endParaRPr lang="en-US" altLang="zh-CN" b="1" dirty="0">
                  <a:solidFill>
                    <a:srgbClr val="FF0000"/>
                  </a:solidFill>
                  <a:ea typeface="黑体" panose="02010609060101010101" pitchFamily="49" charset="-122"/>
                </a:endParaRPr>
              </a:p>
              <a:p>
                <a:pPr marL="457200" indent="-457200" eaLnBrk="1" hangingPunct="1">
                  <a:lnSpc>
                    <a:spcPct val="150000"/>
                  </a:lnSpc>
                  <a:buAutoNum type="arabicParenBoth"/>
                </a:pPr>
                <a:r>
                  <a:rPr lang="zh-CN" altLang="en-US" dirty="0"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2</m:t>
                    </m:r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𝜔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×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𝑣</m:t>
                            </m:r>
                          </m:e>
                        </m:acc>
                      </m:e>
                      <m:sup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dirty="0">
                    <a:ea typeface="黑体" panose="02010609060101010101" pitchFamily="49" charset="-122"/>
                  </a:rPr>
                  <a:t>：</a:t>
                </a:r>
                <a:r>
                  <a:rPr lang="zh-CN" altLang="en-US" b="1" dirty="0">
                    <a:solidFill>
                      <a:srgbClr val="FF0000"/>
                    </a:solidFill>
                    <a:ea typeface="黑体" panose="02010609060101010101" pitchFamily="49" charset="-122"/>
                  </a:rPr>
                  <a:t>科氏加速度</a:t>
                </a:r>
                <a:endParaRPr lang="zh-CN" altLang="en-US" b="1" dirty="0">
                  <a:solidFill>
                    <a:srgbClr val="FF0000"/>
                  </a:solidFill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42013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042" y="829136"/>
                <a:ext cx="5600728" cy="3680688"/>
              </a:xfrm>
              <a:prstGeom prst="rect">
                <a:avLst/>
              </a:prstGeom>
              <a:blipFill rotWithShape="1">
                <a:blip r:embed="rId1"/>
                <a:stretch>
                  <a:fillRect l="-5" t="-13" r="5" b="1"/>
                </a:stretch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989" name="组合 2"/>
          <p:cNvGrpSpPr/>
          <p:nvPr/>
        </p:nvGrpSpPr>
        <p:grpSpPr bwMode="auto">
          <a:xfrm>
            <a:off x="5778500" y="827088"/>
            <a:ext cx="2663825" cy="2817812"/>
            <a:chOff x="5724128" y="817563"/>
            <a:chExt cx="2664296" cy="2817812"/>
          </a:xfrm>
        </p:grpSpPr>
        <p:sp>
          <p:nvSpPr>
            <p:cNvPr id="41998" name="矩形 1"/>
            <p:cNvSpPr>
              <a:spLocks noChangeArrowheads="1"/>
            </p:cNvSpPr>
            <p:nvPr/>
          </p:nvSpPr>
          <p:spPr bwMode="auto">
            <a:xfrm>
              <a:off x="5724128" y="817563"/>
              <a:ext cx="2664296" cy="281781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41999" name="Group 32"/>
            <p:cNvGrpSpPr/>
            <p:nvPr/>
          </p:nvGrpSpPr>
          <p:grpSpPr bwMode="auto">
            <a:xfrm>
              <a:off x="6324600" y="990600"/>
              <a:ext cx="1524000" cy="2565400"/>
              <a:chOff x="3984" y="624"/>
              <a:chExt cx="960" cy="1616"/>
            </a:xfrm>
          </p:grpSpPr>
          <p:sp>
            <p:nvSpPr>
              <p:cNvPr id="42000" name="Line 12"/>
              <p:cNvSpPr>
                <a:spLocks noChangeShapeType="1"/>
              </p:cNvSpPr>
              <p:nvPr/>
            </p:nvSpPr>
            <p:spPr bwMode="auto">
              <a:xfrm flipV="1">
                <a:off x="4272" y="1200"/>
                <a:ext cx="432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01" name="Line 13"/>
              <p:cNvSpPr>
                <a:spLocks noChangeShapeType="1"/>
              </p:cNvSpPr>
              <p:nvPr/>
            </p:nvSpPr>
            <p:spPr bwMode="auto">
              <a:xfrm>
                <a:off x="4272" y="1248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2002" name="Group 16"/>
              <p:cNvGrpSpPr/>
              <p:nvPr/>
            </p:nvGrpSpPr>
            <p:grpSpPr bwMode="auto">
              <a:xfrm>
                <a:off x="4272" y="624"/>
                <a:ext cx="302" cy="1440"/>
                <a:chOff x="4272" y="624"/>
                <a:chExt cx="302" cy="1440"/>
              </a:xfrm>
            </p:grpSpPr>
            <p:sp>
              <p:nvSpPr>
                <p:cNvPr id="42011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4272" y="720"/>
                  <a:ext cx="0" cy="13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aphicFrame>
              <p:nvGraphicFramePr>
                <p:cNvPr id="42012" name="Object 15"/>
                <p:cNvGraphicFramePr>
                  <a:graphicFrameLocks noChangeAspect="1"/>
                </p:cNvGraphicFramePr>
                <p:nvPr/>
              </p:nvGraphicFramePr>
              <p:xfrm>
                <a:off x="4320" y="624"/>
                <a:ext cx="254" cy="29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2667" name="Equation" r:id="rId2" imgW="3657600" imgH="4267200" progId="Equation.3">
                        <p:embed/>
                      </p:oleObj>
                    </mc:Choice>
                    <mc:Fallback>
                      <p:oleObj name="Equation" r:id="rId2" imgW="3657600" imgH="4267200" progId="Equation.3">
                        <p:embed/>
                        <p:pic>
                          <p:nvPicPr>
                            <p:cNvPr id="0" name="Object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20" y="624"/>
                              <a:ext cx="254" cy="29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42003" name="Object 17"/>
              <p:cNvGraphicFramePr>
                <a:graphicFrameLocks noChangeAspect="1"/>
              </p:cNvGraphicFramePr>
              <p:nvPr/>
            </p:nvGraphicFramePr>
            <p:xfrm>
              <a:off x="4512" y="1488"/>
              <a:ext cx="222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668" name="Equation" r:id="rId4" imgW="3048000" imgH="3962400" progId="Equation.3">
                      <p:embed/>
                    </p:oleObj>
                  </mc:Choice>
                  <mc:Fallback>
                    <p:oleObj name="Equation" r:id="rId4" imgW="3048000" imgH="3962400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12" y="1488"/>
                            <a:ext cx="222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42004" name="Group 19"/>
              <p:cNvGrpSpPr/>
              <p:nvPr/>
            </p:nvGrpSpPr>
            <p:grpSpPr bwMode="auto">
              <a:xfrm>
                <a:off x="3984" y="1104"/>
                <a:ext cx="288" cy="942"/>
                <a:chOff x="3312" y="1170"/>
                <a:chExt cx="288" cy="942"/>
              </a:xfrm>
            </p:grpSpPr>
            <p:sp>
              <p:nvSpPr>
                <p:cNvPr id="42009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3600" y="1296"/>
                  <a:ext cx="0" cy="81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aphicFrame>
              <p:nvGraphicFramePr>
                <p:cNvPr id="42010" name="Object 18"/>
                <p:cNvGraphicFramePr>
                  <a:graphicFrameLocks noChangeAspect="1"/>
                </p:cNvGraphicFramePr>
                <p:nvPr/>
              </p:nvGraphicFramePr>
              <p:xfrm>
                <a:off x="3312" y="1170"/>
                <a:ext cx="224" cy="18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2669" name="Equation" r:id="rId6" imgW="4876800" imgH="3962400" progId="Equation.3">
                        <p:embed/>
                      </p:oleObj>
                    </mc:Choice>
                    <mc:Fallback>
                      <p:oleObj name="Equation" r:id="rId6" imgW="4876800" imgH="3962400" progId="Equation.3">
                        <p:embed/>
                        <p:pic>
                          <p:nvPicPr>
                            <p:cNvPr id="0" name="Object 1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312" y="1170"/>
                              <a:ext cx="224" cy="18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42005" name="Object 20"/>
              <p:cNvGraphicFramePr>
                <a:graphicFrameLocks noChangeAspect="1"/>
              </p:cNvGraphicFramePr>
              <p:nvPr/>
            </p:nvGraphicFramePr>
            <p:xfrm>
              <a:off x="4752" y="1104"/>
              <a:ext cx="192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670" name="Equation" r:id="rId8" imgW="3657600" imgH="3962400" progId="Equation.3">
                      <p:embed/>
                    </p:oleObj>
                  </mc:Choice>
                  <mc:Fallback>
                    <p:oleObj name="Equation" r:id="rId8" imgW="3657600" imgH="3962400" progId="Equation.3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52" y="1104"/>
                            <a:ext cx="192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006" name="Object 21"/>
              <p:cNvGraphicFramePr>
                <a:graphicFrameLocks noChangeAspect="1"/>
              </p:cNvGraphicFramePr>
              <p:nvPr/>
            </p:nvGraphicFramePr>
            <p:xfrm>
              <a:off x="4368" y="960"/>
              <a:ext cx="192" cy="2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671" name="Equation" r:id="rId10" imgW="3657600" imgH="4876800" progId="Equation.3">
                      <p:embed/>
                    </p:oleObj>
                  </mc:Choice>
                  <mc:Fallback>
                    <p:oleObj name="Equation" r:id="rId10" imgW="3657600" imgH="4876800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8" y="960"/>
                            <a:ext cx="192" cy="2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007" name="Object 22"/>
              <p:cNvGraphicFramePr>
                <a:graphicFrameLocks noChangeAspect="1"/>
              </p:cNvGraphicFramePr>
              <p:nvPr/>
            </p:nvGraphicFramePr>
            <p:xfrm>
              <a:off x="4080" y="2016"/>
              <a:ext cx="192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672" name="Equation" r:id="rId12" imgW="3657600" imgH="4267200" progId="Equation.3">
                      <p:embed/>
                    </p:oleObj>
                  </mc:Choice>
                  <mc:Fallback>
                    <p:oleObj name="Equation" r:id="rId12" imgW="3657600" imgH="4267200" progId="Equation.3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0" y="2016"/>
                            <a:ext cx="192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008" name="Object 23"/>
              <p:cNvGraphicFramePr>
                <a:graphicFrameLocks noChangeAspect="1"/>
              </p:cNvGraphicFramePr>
              <p:nvPr/>
            </p:nvGraphicFramePr>
            <p:xfrm>
              <a:off x="4272" y="1680"/>
              <a:ext cx="160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673" name="Equation" r:id="rId14" imgW="3048000" imgH="4267200" progId="Equation.3">
                      <p:embed/>
                    </p:oleObj>
                  </mc:Choice>
                  <mc:Fallback>
                    <p:oleObj name="Equation" r:id="rId14" imgW="3048000" imgH="4267200" progId="Equation.3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2" y="1680"/>
                            <a:ext cx="160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8223" name="Text Box 31"/>
          <p:cNvSpPr txBox="1">
            <a:spLocks noChangeArrowheads="1"/>
          </p:cNvSpPr>
          <p:nvPr/>
        </p:nvSpPr>
        <p:spPr bwMode="auto">
          <a:xfrm>
            <a:off x="5486400" y="3733800"/>
            <a:ext cx="3248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accent2"/>
                </a:solidFill>
                <a:ea typeface="黑体" panose="02010609060101010101" pitchFamily="49" charset="-122"/>
              </a:rPr>
              <a:t>地球自转属于这种情况</a:t>
            </a:r>
            <a:endParaRPr lang="zh-CN" altLang="en-US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pic>
        <p:nvPicPr>
          <p:cNvPr id="8225" name="Picture 33" descr="地球1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1910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23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5"/>
          <p:cNvSpPr txBox="1">
            <a:spLocks noChangeArrowheads="1"/>
          </p:cNvSpPr>
          <p:nvPr/>
        </p:nvSpPr>
        <p:spPr bwMode="auto">
          <a:xfrm>
            <a:off x="288925" y="96838"/>
            <a:ext cx="8693150" cy="1200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ea typeface="黑体" panose="02010609060101010101" pitchFamily="49" charset="-122"/>
              </a:rPr>
              <a:t>例</a:t>
            </a:r>
            <a:r>
              <a:rPr lang="en-US" altLang="zh-CN" dirty="0">
                <a:solidFill>
                  <a:srgbClr val="C00000"/>
                </a:solidFill>
                <a:ea typeface="黑体" panose="02010609060101010101" pitchFamily="49" charset="-122"/>
              </a:rPr>
              <a:t>5</a:t>
            </a:r>
            <a:r>
              <a:rPr lang="zh-CN" altLang="en-US" dirty="0">
                <a:solidFill>
                  <a:srgbClr val="C00000"/>
                </a:solidFill>
                <a:ea typeface="黑体" panose="02010609060101010101" pitchFamily="49" charset="-122"/>
              </a:rPr>
              <a:t>  在地球上北纬度为</a:t>
            </a:r>
            <a:r>
              <a:rPr lang="en-US" altLang="zh-CN" dirty="0">
                <a:solidFill>
                  <a:srgbClr val="C00000"/>
                </a:solidFill>
                <a:ea typeface="黑体" panose="02010609060101010101" pitchFamily="49" charset="-122"/>
              </a:rPr>
              <a:t>φ</a:t>
            </a:r>
            <a:r>
              <a:rPr lang="zh-CN" altLang="en-US" dirty="0">
                <a:solidFill>
                  <a:srgbClr val="C00000"/>
                </a:solidFill>
                <a:ea typeface="黑体" panose="02010609060101010101" pitchFamily="49" charset="-122"/>
              </a:rPr>
              <a:t>处，一辆汽车以匀速率</a:t>
            </a:r>
            <a:r>
              <a:rPr lang="en-US" altLang="zh-CN" dirty="0" err="1">
                <a:solidFill>
                  <a:srgbClr val="C00000"/>
                </a:solidFill>
                <a:ea typeface="黑体" panose="02010609060101010101" pitchFamily="49" charset="-122"/>
              </a:rPr>
              <a:t>v</a:t>
            </a:r>
            <a:r>
              <a:rPr lang="en-US" altLang="zh-CN" baseline="-25000" dirty="0" err="1">
                <a:solidFill>
                  <a:srgbClr val="C00000"/>
                </a:solidFill>
                <a:ea typeface="黑体" panose="02010609060101010101" pitchFamily="49" charset="-122"/>
              </a:rPr>
              <a:t>r</a:t>
            </a:r>
            <a:r>
              <a:rPr lang="zh-CN" altLang="en-US" dirty="0">
                <a:solidFill>
                  <a:srgbClr val="C00000"/>
                </a:solidFill>
                <a:ea typeface="黑体" panose="02010609060101010101" pitchFamily="49" charset="-122"/>
              </a:rPr>
              <a:t>沿经线自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dirty="0">
                <a:solidFill>
                  <a:srgbClr val="C00000"/>
                </a:solidFill>
                <a:ea typeface="黑体" panose="02010609060101010101" pitchFamily="49" charset="-122"/>
              </a:rPr>
              <a:t>北向南运动，地球半径为</a:t>
            </a:r>
            <a:r>
              <a:rPr lang="en-US" altLang="zh-CN" dirty="0">
                <a:solidFill>
                  <a:srgbClr val="C00000"/>
                </a:solidFill>
                <a:ea typeface="黑体" panose="02010609060101010101" pitchFamily="49" charset="-122"/>
              </a:rPr>
              <a:t>R，</a:t>
            </a:r>
            <a:r>
              <a:rPr lang="zh-CN" altLang="en-US" dirty="0">
                <a:solidFill>
                  <a:srgbClr val="C00000"/>
                </a:solidFill>
                <a:ea typeface="黑体" panose="02010609060101010101" pitchFamily="49" charset="-122"/>
              </a:rPr>
              <a:t>绕地轴的自转角速度为</a:t>
            </a:r>
            <a:r>
              <a:rPr lang="en-US" altLang="zh-CN" dirty="0">
                <a:solidFill>
                  <a:srgbClr val="C00000"/>
                </a:solidFill>
                <a:ea typeface="黑体" panose="02010609060101010101" pitchFamily="49" charset="-122"/>
              </a:rPr>
              <a:t>ω。</a:t>
            </a:r>
            <a:r>
              <a:rPr lang="zh-CN" altLang="en-US" dirty="0">
                <a:solidFill>
                  <a:srgbClr val="C00000"/>
                </a:solidFill>
                <a:ea typeface="黑体" panose="02010609060101010101" pitchFamily="49" charset="-122"/>
              </a:rPr>
              <a:t>不考虑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dirty="0">
                <a:solidFill>
                  <a:srgbClr val="C00000"/>
                </a:solidFill>
                <a:ea typeface="黑体" panose="02010609060101010101" pitchFamily="49" charset="-122"/>
              </a:rPr>
              <a:t>地轴在空中的平移，试求汽车的绝对速度和绝对加速度。</a:t>
            </a:r>
            <a:endParaRPr lang="zh-CN" altLang="en-US" dirty="0">
              <a:solidFill>
                <a:srgbClr val="C00000"/>
              </a:solidFill>
              <a:ea typeface="黑体" panose="02010609060101010101" pitchFamily="49" charset="-122"/>
            </a:endParaRPr>
          </a:p>
        </p:txBody>
      </p: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4648200" y="2819400"/>
            <a:ext cx="3859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牵连运动—</a:t>
            </a:r>
            <a:r>
              <a:rPr kumimoji="0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地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球绕地轴转动</a:t>
            </a:r>
            <a:endParaRPr lang="en-US" altLang="zh-CN" i="1">
              <a:ea typeface="黑体" panose="02010609060101010101" pitchFamily="49" charset="-122"/>
            </a:endParaRPr>
          </a:p>
        </p:txBody>
      </p:sp>
      <p:sp>
        <p:nvSpPr>
          <p:cNvPr id="32776" name="Text Box 8"/>
          <p:cNvSpPr txBox="1">
            <a:spLocks noChangeArrowheads="1"/>
          </p:cNvSpPr>
          <p:nvPr/>
        </p:nvSpPr>
        <p:spPr bwMode="auto">
          <a:xfrm>
            <a:off x="1471613" y="1917700"/>
            <a:ext cx="2020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动点－汽车</a:t>
            </a:r>
            <a:r>
              <a:rPr lang="en-US" altLang="zh-CN">
                <a:ea typeface="黑体" panose="02010609060101010101" pitchFamily="49" charset="-122"/>
                <a:sym typeface="MT Extra" panose="05050102010205020202" pitchFamily="2" charset="77"/>
              </a:rPr>
              <a:t>；</a:t>
            </a:r>
            <a:endParaRPr lang="en-US" altLang="zh-CN">
              <a:ea typeface="黑体" panose="02010609060101010101" pitchFamily="49" charset="-122"/>
              <a:sym typeface="MT Extra" panose="05050102010205020202" pitchFamily="2" charset="77"/>
            </a:endParaRPr>
          </a:p>
        </p:txBody>
      </p:sp>
      <p:sp>
        <p:nvSpPr>
          <p:cNvPr id="32777" name="Text Box 9"/>
          <p:cNvSpPr txBox="1">
            <a:spLocks noChangeArrowheads="1"/>
          </p:cNvSpPr>
          <p:nvPr/>
        </p:nvSpPr>
        <p:spPr bwMode="auto">
          <a:xfrm>
            <a:off x="1454150" y="2462213"/>
            <a:ext cx="3238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定系－</a:t>
            </a:r>
            <a:r>
              <a:rPr lang="zh-CN" altLang="en-US" i="1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固联于某恒星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；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32778" name="Text Box 10"/>
          <p:cNvSpPr txBox="1">
            <a:spLocks noChangeArrowheads="1"/>
          </p:cNvSpPr>
          <p:nvPr/>
        </p:nvSpPr>
        <p:spPr bwMode="auto">
          <a:xfrm>
            <a:off x="1447800" y="3033713"/>
            <a:ext cx="236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动系－地球</a:t>
            </a:r>
            <a:r>
              <a:rPr lang="en-US" altLang="zh-CN" i="1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oxy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sp>
        <p:nvSpPr>
          <p:cNvPr id="32780" name="Text Box 12"/>
          <p:cNvSpPr txBox="1">
            <a:spLocks noChangeArrowheads="1"/>
          </p:cNvSpPr>
          <p:nvPr/>
        </p:nvSpPr>
        <p:spPr bwMode="auto">
          <a:xfrm>
            <a:off x="4724400" y="1828800"/>
            <a:ext cx="3741738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相对运动—</a:t>
            </a:r>
            <a:r>
              <a:rPr kumimoji="0"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沿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经线绕地心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o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  <a:p>
            <a:pPr eaLnBrk="1" hangingPunct="1"/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         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的圆周运动</a:t>
            </a:r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43016" name="Text Box 13"/>
          <p:cNvSpPr txBox="1">
            <a:spLocks noChangeArrowheads="1"/>
          </p:cNvSpPr>
          <p:nvPr/>
        </p:nvSpPr>
        <p:spPr bwMode="auto">
          <a:xfrm>
            <a:off x="288925" y="1720850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0000"/>
                </a:solidFill>
                <a:ea typeface="黑体" panose="02010609060101010101" pitchFamily="49" charset="-122"/>
              </a:rPr>
              <a:t>解：</a:t>
            </a:r>
            <a:endParaRPr lang="zh-CN" altLang="en-US" sz="280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grpSp>
        <p:nvGrpSpPr>
          <p:cNvPr id="43017" name="Group 22"/>
          <p:cNvGrpSpPr/>
          <p:nvPr/>
        </p:nvGrpSpPr>
        <p:grpSpPr bwMode="auto">
          <a:xfrm>
            <a:off x="6267450" y="3276600"/>
            <a:ext cx="2362200" cy="2362200"/>
            <a:chOff x="3696" y="2064"/>
            <a:chExt cx="1488" cy="1488"/>
          </a:xfrm>
        </p:grpSpPr>
        <p:sp>
          <p:nvSpPr>
            <p:cNvPr id="43044" name="Oval 14"/>
            <p:cNvSpPr>
              <a:spLocks noChangeArrowheads="1"/>
            </p:cNvSpPr>
            <p:nvPr/>
          </p:nvSpPr>
          <p:spPr bwMode="auto">
            <a:xfrm>
              <a:off x="3792" y="2256"/>
              <a:ext cx="1200" cy="12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ea typeface="黑体" panose="02010609060101010101" pitchFamily="49" charset="-122"/>
              </a:endParaRPr>
            </a:p>
          </p:txBody>
        </p:sp>
        <p:sp>
          <p:nvSpPr>
            <p:cNvPr id="43045" name="Oval 15"/>
            <p:cNvSpPr>
              <a:spLocks noChangeArrowheads="1"/>
            </p:cNvSpPr>
            <p:nvPr/>
          </p:nvSpPr>
          <p:spPr bwMode="auto">
            <a:xfrm>
              <a:off x="4032" y="2256"/>
              <a:ext cx="720" cy="12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ea typeface="黑体" panose="02010609060101010101" pitchFamily="49" charset="-122"/>
              </a:endParaRPr>
            </a:p>
          </p:txBody>
        </p:sp>
        <p:sp>
          <p:nvSpPr>
            <p:cNvPr id="43046" name="Line 16"/>
            <p:cNvSpPr>
              <a:spLocks noChangeShapeType="1"/>
            </p:cNvSpPr>
            <p:nvPr/>
          </p:nvSpPr>
          <p:spPr bwMode="auto">
            <a:xfrm>
              <a:off x="3792" y="2880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47" name="Line 17"/>
            <p:cNvSpPr>
              <a:spLocks noChangeShapeType="1"/>
            </p:cNvSpPr>
            <p:nvPr/>
          </p:nvSpPr>
          <p:spPr bwMode="auto">
            <a:xfrm flipV="1">
              <a:off x="4368" y="206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48" name="Line 18"/>
            <p:cNvSpPr>
              <a:spLocks noChangeShapeType="1"/>
            </p:cNvSpPr>
            <p:nvPr/>
          </p:nvSpPr>
          <p:spPr bwMode="auto">
            <a:xfrm flipH="1">
              <a:off x="3696" y="2880"/>
              <a:ext cx="672" cy="672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49" name="Line 19"/>
            <p:cNvSpPr>
              <a:spLocks noChangeShapeType="1"/>
            </p:cNvSpPr>
            <p:nvPr/>
          </p:nvSpPr>
          <p:spPr bwMode="auto">
            <a:xfrm>
              <a:off x="4368" y="2880"/>
              <a:ext cx="816" cy="62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50" name="Line 20"/>
            <p:cNvSpPr>
              <a:spLocks noChangeShapeType="1"/>
            </p:cNvSpPr>
            <p:nvPr/>
          </p:nvSpPr>
          <p:spPr bwMode="auto">
            <a:xfrm flipH="1">
              <a:off x="4368" y="2592"/>
              <a:ext cx="336" cy="288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51" name="Freeform 21"/>
            <p:cNvSpPr/>
            <p:nvPr/>
          </p:nvSpPr>
          <p:spPr bwMode="auto">
            <a:xfrm>
              <a:off x="4512" y="2784"/>
              <a:ext cx="64" cy="240"/>
            </a:xfrm>
            <a:custGeom>
              <a:avLst/>
              <a:gdLst>
                <a:gd name="T0" fmla="*/ 0 w 112"/>
                <a:gd name="T1" fmla="*/ 0 h 288"/>
                <a:gd name="T2" fmla="*/ 6 w 112"/>
                <a:gd name="T3" fmla="*/ 39 h 288"/>
                <a:gd name="T4" fmla="*/ 6 w 112"/>
                <a:gd name="T5" fmla="*/ 78 h 288"/>
                <a:gd name="T6" fmla="*/ 3 w 112"/>
                <a:gd name="T7" fmla="*/ 116 h 28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2" h="288">
                  <a:moveTo>
                    <a:pt x="0" y="0"/>
                  </a:moveTo>
                  <a:cubicBezTo>
                    <a:pt x="40" y="32"/>
                    <a:pt x="80" y="64"/>
                    <a:pt x="96" y="96"/>
                  </a:cubicBezTo>
                  <a:cubicBezTo>
                    <a:pt x="112" y="128"/>
                    <a:pt x="104" y="160"/>
                    <a:pt x="96" y="192"/>
                  </a:cubicBezTo>
                  <a:cubicBezTo>
                    <a:pt x="88" y="224"/>
                    <a:pt x="56" y="272"/>
                    <a:pt x="48" y="28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43018" name="Object 23"/>
          <p:cNvGraphicFramePr>
            <a:graphicFrameLocks noChangeAspect="1"/>
          </p:cNvGraphicFramePr>
          <p:nvPr/>
        </p:nvGraphicFramePr>
        <p:xfrm>
          <a:off x="6419850" y="5486400"/>
          <a:ext cx="271463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787" name="Equation" r:id="rId1" imgW="3048000" imgH="3352800" progId="Equation.3">
                  <p:embed/>
                </p:oleObj>
              </mc:Choice>
              <mc:Fallback>
                <p:oleObj name="Equation" r:id="rId1" imgW="3048000" imgH="33528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9850" y="5486400"/>
                        <a:ext cx="271463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9" name="Object 24"/>
          <p:cNvGraphicFramePr>
            <a:graphicFrameLocks noChangeAspect="1"/>
          </p:cNvGraphicFramePr>
          <p:nvPr/>
        </p:nvGraphicFramePr>
        <p:xfrm>
          <a:off x="8616950" y="5230813"/>
          <a:ext cx="2984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788" name="Equation" r:id="rId3" imgW="3352800" imgH="3962400" progId="Equation.3">
                  <p:embed/>
                </p:oleObj>
              </mc:Choice>
              <mc:Fallback>
                <p:oleObj name="Equation" r:id="rId3" imgW="3352800" imgH="39624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6950" y="5230813"/>
                        <a:ext cx="2984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0" name="Object 25"/>
          <p:cNvGraphicFramePr>
            <a:graphicFrameLocks noChangeAspect="1"/>
          </p:cNvGraphicFramePr>
          <p:nvPr/>
        </p:nvGraphicFramePr>
        <p:xfrm>
          <a:off x="7410450" y="3213100"/>
          <a:ext cx="271463" cy="27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789" name="Equation" r:id="rId5" imgW="3048000" imgH="3048000" progId="Equation.3">
                  <p:embed/>
                </p:oleObj>
              </mc:Choice>
              <mc:Fallback>
                <p:oleObj name="Equation" r:id="rId5" imgW="3048000" imgH="30480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0450" y="3213100"/>
                        <a:ext cx="271463" cy="271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1" name="Object 26"/>
          <p:cNvGraphicFramePr>
            <a:graphicFrameLocks noChangeAspect="1"/>
          </p:cNvGraphicFramePr>
          <p:nvPr/>
        </p:nvGraphicFramePr>
        <p:xfrm>
          <a:off x="7639050" y="4419600"/>
          <a:ext cx="2984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790" name="Equation" r:id="rId7" imgW="3352800" imgH="3962400" progId="Equation.3">
                  <p:embed/>
                </p:oleObj>
              </mc:Choice>
              <mc:Fallback>
                <p:oleObj name="Equation" r:id="rId7" imgW="3352800" imgH="39624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9050" y="4419600"/>
                        <a:ext cx="29845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2" name="Object 27"/>
          <p:cNvGraphicFramePr>
            <a:graphicFrameLocks noChangeAspect="1"/>
          </p:cNvGraphicFramePr>
          <p:nvPr/>
        </p:nvGraphicFramePr>
        <p:xfrm>
          <a:off x="6953250" y="4495800"/>
          <a:ext cx="271463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791" name="Equation" r:id="rId9" imgW="3048000" imgH="3352800" progId="Equation.3">
                  <p:embed/>
                </p:oleObj>
              </mc:Choice>
              <mc:Fallback>
                <p:oleObj name="Equation" r:id="rId9" imgW="3048000" imgH="33528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0" y="4495800"/>
                        <a:ext cx="271463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3" name="Object 28"/>
          <p:cNvGraphicFramePr>
            <a:graphicFrameLocks noChangeAspect="1"/>
          </p:cNvGraphicFramePr>
          <p:nvPr/>
        </p:nvGraphicFramePr>
        <p:xfrm>
          <a:off x="7334250" y="4038600"/>
          <a:ext cx="325438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792" name="Equation" r:id="rId11" imgW="152400" imgH="171450" progId="Equation.3">
                  <p:embed/>
                </p:oleObj>
              </mc:Choice>
              <mc:Fallback>
                <p:oleObj name="Equation" r:id="rId11" imgW="152400" imgH="17145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0" y="4038600"/>
                        <a:ext cx="325438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4" name="Line 29"/>
          <p:cNvSpPr>
            <a:spLocks noChangeShapeType="1"/>
          </p:cNvSpPr>
          <p:nvPr/>
        </p:nvSpPr>
        <p:spPr bwMode="auto">
          <a:xfrm>
            <a:off x="7867650" y="4038600"/>
            <a:ext cx="304800" cy="533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3025" name="Object 30"/>
          <p:cNvGraphicFramePr>
            <a:graphicFrameLocks noChangeAspect="1"/>
          </p:cNvGraphicFramePr>
          <p:nvPr/>
        </p:nvGraphicFramePr>
        <p:xfrm>
          <a:off x="8096250" y="4191000"/>
          <a:ext cx="35401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793" name="Equation" r:id="rId13" imgW="171450" imgH="180975" progId="Equation.3">
                  <p:embed/>
                </p:oleObj>
              </mc:Choice>
              <mc:Fallback>
                <p:oleObj name="Equation" r:id="rId13" imgW="171450" imgH="180975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250" y="4191000"/>
                        <a:ext cx="354013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6" name="Freeform 31"/>
          <p:cNvSpPr/>
          <p:nvPr/>
        </p:nvSpPr>
        <p:spPr bwMode="auto">
          <a:xfrm rot="-1603608">
            <a:off x="7181850" y="3352800"/>
            <a:ext cx="317500" cy="241300"/>
          </a:xfrm>
          <a:custGeom>
            <a:avLst/>
            <a:gdLst>
              <a:gd name="T0" fmla="*/ 2147483646 w 200"/>
              <a:gd name="T1" fmla="*/ 0 h 152"/>
              <a:gd name="T2" fmla="*/ 2147483646 w 200"/>
              <a:gd name="T3" fmla="*/ 2147483646 h 152"/>
              <a:gd name="T4" fmla="*/ 2147483646 w 200"/>
              <a:gd name="T5" fmla="*/ 2147483646 h 152"/>
              <a:gd name="T6" fmla="*/ 2147483646 w 200"/>
              <a:gd name="T7" fmla="*/ 2147483646 h 152"/>
              <a:gd name="T8" fmla="*/ 2147483646 w 200"/>
              <a:gd name="T9" fmla="*/ 2147483646 h 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0" h="152">
                <a:moveTo>
                  <a:pt x="8" y="0"/>
                </a:moveTo>
                <a:cubicBezTo>
                  <a:pt x="4" y="36"/>
                  <a:pt x="0" y="72"/>
                  <a:pt x="8" y="96"/>
                </a:cubicBezTo>
                <a:cubicBezTo>
                  <a:pt x="16" y="120"/>
                  <a:pt x="32" y="136"/>
                  <a:pt x="56" y="144"/>
                </a:cubicBezTo>
                <a:cubicBezTo>
                  <a:pt x="80" y="152"/>
                  <a:pt x="128" y="152"/>
                  <a:pt x="152" y="144"/>
                </a:cubicBezTo>
                <a:cubicBezTo>
                  <a:pt x="176" y="136"/>
                  <a:pt x="192" y="112"/>
                  <a:pt x="200" y="96"/>
                </a:cubicBezTo>
              </a:path>
            </a:pathLst>
          </a:custGeom>
          <a:noFill/>
          <a:ln w="9525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2813" name="Group 45"/>
          <p:cNvGrpSpPr/>
          <p:nvPr/>
        </p:nvGrpSpPr>
        <p:grpSpPr bwMode="auto">
          <a:xfrm>
            <a:off x="3429000" y="3352800"/>
            <a:ext cx="2965450" cy="2819400"/>
            <a:chOff x="1824" y="2112"/>
            <a:chExt cx="1868" cy="1776"/>
          </a:xfrm>
        </p:grpSpPr>
        <p:grpSp>
          <p:nvGrpSpPr>
            <p:cNvPr id="43031" name="Group 35"/>
            <p:cNvGrpSpPr/>
            <p:nvPr/>
          </p:nvGrpSpPr>
          <p:grpSpPr bwMode="auto">
            <a:xfrm>
              <a:off x="1824" y="2304"/>
              <a:ext cx="1584" cy="1584"/>
              <a:chOff x="1824" y="2304"/>
              <a:chExt cx="1584" cy="1584"/>
            </a:xfrm>
          </p:grpSpPr>
          <p:sp>
            <p:nvSpPr>
              <p:cNvPr id="43041" name="Oval 32"/>
              <p:cNvSpPr>
                <a:spLocks noChangeArrowheads="1"/>
              </p:cNvSpPr>
              <p:nvPr/>
            </p:nvSpPr>
            <p:spPr bwMode="auto">
              <a:xfrm>
                <a:off x="2160" y="2400"/>
                <a:ext cx="1152" cy="12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ea typeface="黑体" panose="02010609060101010101" pitchFamily="49" charset="-122"/>
                </a:endParaRPr>
              </a:p>
            </p:txBody>
          </p:sp>
          <p:sp>
            <p:nvSpPr>
              <p:cNvPr id="43042" name="Rectangle 33"/>
              <p:cNvSpPr>
                <a:spLocks noChangeArrowheads="1"/>
              </p:cNvSpPr>
              <p:nvPr/>
            </p:nvSpPr>
            <p:spPr bwMode="auto">
              <a:xfrm>
                <a:off x="2112" y="2304"/>
                <a:ext cx="624" cy="15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ea typeface="黑体" panose="02010609060101010101" pitchFamily="49" charset="-122"/>
                </a:endParaRPr>
              </a:p>
            </p:txBody>
          </p:sp>
          <p:sp>
            <p:nvSpPr>
              <p:cNvPr id="43043" name="Rectangle 34"/>
              <p:cNvSpPr>
                <a:spLocks noChangeArrowheads="1"/>
              </p:cNvSpPr>
              <p:nvPr/>
            </p:nvSpPr>
            <p:spPr bwMode="auto">
              <a:xfrm rot="-5304075">
                <a:off x="2304" y="2640"/>
                <a:ext cx="624" cy="15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43032" name="Line 36"/>
            <p:cNvSpPr>
              <a:spLocks noChangeShapeType="1"/>
            </p:cNvSpPr>
            <p:nvPr/>
          </p:nvSpPr>
          <p:spPr bwMode="auto">
            <a:xfrm>
              <a:off x="2688" y="3120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33" name="Line 37"/>
            <p:cNvSpPr>
              <a:spLocks noChangeShapeType="1"/>
            </p:cNvSpPr>
            <p:nvPr/>
          </p:nvSpPr>
          <p:spPr bwMode="auto">
            <a:xfrm flipV="1">
              <a:off x="2736" y="2160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34" name="Line 38"/>
            <p:cNvSpPr>
              <a:spLocks noChangeShapeType="1"/>
            </p:cNvSpPr>
            <p:nvPr/>
          </p:nvSpPr>
          <p:spPr bwMode="auto">
            <a:xfrm flipV="1">
              <a:off x="2736" y="2496"/>
              <a:ext cx="336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43035" name="Object 39"/>
            <p:cNvGraphicFramePr>
              <a:graphicFrameLocks noChangeAspect="1"/>
            </p:cNvGraphicFramePr>
            <p:nvPr/>
          </p:nvGraphicFramePr>
          <p:xfrm>
            <a:off x="2884" y="2880"/>
            <a:ext cx="188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794" name="Equation" r:id="rId15" imgW="3352800" imgH="3962400" progId="Equation.3">
                    <p:embed/>
                  </p:oleObj>
                </mc:Choice>
                <mc:Fallback>
                  <p:oleObj name="Equation" r:id="rId15" imgW="3352800" imgH="396240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4" y="2880"/>
                          <a:ext cx="188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36" name="Object 40"/>
            <p:cNvGraphicFramePr>
              <a:graphicFrameLocks noChangeAspect="1"/>
            </p:cNvGraphicFramePr>
            <p:nvPr/>
          </p:nvGraphicFramePr>
          <p:xfrm>
            <a:off x="2736" y="2640"/>
            <a:ext cx="205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795" name="Equation" r:id="rId16" imgW="152400" imgH="171450" progId="Equation.3">
                    <p:embed/>
                  </p:oleObj>
                </mc:Choice>
                <mc:Fallback>
                  <p:oleObj name="Equation" r:id="rId16" imgW="152400" imgH="17145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2640"/>
                          <a:ext cx="205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37" name="Line 41"/>
            <p:cNvSpPr>
              <a:spLocks noChangeShapeType="1"/>
            </p:cNvSpPr>
            <p:nvPr/>
          </p:nvSpPr>
          <p:spPr bwMode="auto">
            <a:xfrm rot="-877531">
              <a:off x="3120" y="2496"/>
              <a:ext cx="192" cy="33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43038" name="Object 42"/>
            <p:cNvGraphicFramePr>
              <a:graphicFrameLocks noChangeAspect="1"/>
            </p:cNvGraphicFramePr>
            <p:nvPr/>
          </p:nvGraphicFramePr>
          <p:xfrm>
            <a:off x="3312" y="2448"/>
            <a:ext cx="223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796" name="Equation" r:id="rId18" imgW="171450" imgH="180975" progId="Equation.3">
                    <p:embed/>
                  </p:oleObj>
                </mc:Choice>
                <mc:Fallback>
                  <p:oleObj name="Equation" r:id="rId18" imgW="171450" imgH="180975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2448"/>
                          <a:ext cx="223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39" name="Object 43"/>
            <p:cNvGraphicFramePr>
              <a:graphicFrameLocks noChangeAspect="1"/>
            </p:cNvGraphicFramePr>
            <p:nvPr/>
          </p:nvGraphicFramePr>
          <p:xfrm>
            <a:off x="3504" y="3024"/>
            <a:ext cx="188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797" name="Equation" r:id="rId20" imgW="3352800" imgH="3962400" progId="Equation.3">
                    <p:embed/>
                  </p:oleObj>
                </mc:Choice>
                <mc:Fallback>
                  <p:oleObj name="Equation" r:id="rId20" imgW="3352800" imgH="3962400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3024"/>
                          <a:ext cx="188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40" name="Object 44"/>
            <p:cNvGraphicFramePr>
              <a:graphicFrameLocks noChangeAspect="1"/>
            </p:cNvGraphicFramePr>
            <p:nvPr/>
          </p:nvGraphicFramePr>
          <p:xfrm>
            <a:off x="2736" y="2112"/>
            <a:ext cx="171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798" name="Equation" r:id="rId21" imgW="3048000" imgH="3048000" progId="Equation.3">
                    <p:embed/>
                  </p:oleObj>
                </mc:Choice>
                <mc:Fallback>
                  <p:oleObj name="Equation" r:id="rId21" imgW="3048000" imgH="3048000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2112"/>
                          <a:ext cx="171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814" name="Object 46"/>
          <p:cNvGraphicFramePr>
            <a:graphicFrameLocks noChangeAspect="1"/>
          </p:cNvGraphicFramePr>
          <p:nvPr/>
        </p:nvGraphicFramePr>
        <p:xfrm>
          <a:off x="609600" y="3657600"/>
          <a:ext cx="38100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799" name="Equation" r:id="rId22" imgW="35966400" imgH="5791200" progId="Equation.3">
                  <p:embed/>
                </p:oleObj>
              </mc:Choice>
              <mc:Fallback>
                <p:oleObj name="Equation" r:id="rId22" imgW="35966400" imgH="5791200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657600"/>
                        <a:ext cx="381000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15" name="Object 47"/>
          <p:cNvGraphicFramePr>
            <a:graphicFrameLocks noChangeAspect="1"/>
          </p:cNvGraphicFramePr>
          <p:nvPr/>
        </p:nvGraphicFramePr>
        <p:xfrm>
          <a:off x="609600" y="4267200"/>
          <a:ext cx="36163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00" name="Equation" r:id="rId24" imgW="34137600" imgH="5791200" progId="Equation.3">
                  <p:embed/>
                </p:oleObj>
              </mc:Choice>
              <mc:Fallback>
                <p:oleObj name="Equation" r:id="rId24" imgW="34137600" imgH="579120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267200"/>
                        <a:ext cx="361632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16" name="Object 48"/>
          <p:cNvGraphicFramePr>
            <a:graphicFrameLocks noChangeAspect="1"/>
          </p:cNvGraphicFramePr>
          <p:nvPr/>
        </p:nvGraphicFramePr>
        <p:xfrm>
          <a:off x="533400" y="5029200"/>
          <a:ext cx="5235575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01" name="Equation" r:id="rId26" imgW="56692800" imgH="11582400" progId="Equation.3">
                  <p:embed/>
                </p:oleObj>
              </mc:Choice>
              <mc:Fallback>
                <p:oleObj name="Equation" r:id="rId26" imgW="56692800" imgH="1158240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029200"/>
                        <a:ext cx="5235575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8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8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8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8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5" grpId="0" autoUpdateAnimBg="0"/>
      <p:bldP spid="32777" grpId="0" autoUpdateAnimBg="0"/>
      <p:bldP spid="32778" grpId="0" autoUpdateAnimBg="0"/>
      <p:bldP spid="32780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034" name="Object 6"/>
          <p:cNvGraphicFramePr>
            <a:graphicFrameLocks noChangeAspect="1"/>
          </p:cNvGraphicFramePr>
          <p:nvPr/>
        </p:nvGraphicFramePr>
        <p:xfrm>
          <a:off x="762000" y="304800"/>
          <a:ext cx="633412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76" name="Equation" r:id="rId1" imgW="68580000" imgH="6096000" progId="Equation.3">
                  <p:embed/>
                </p:oleObj>
              </mc:Choice>
              <mc:Fallback>
                <p:oleObj name="Equation" r:id="rId1" imgW="68580000" imgH="6096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04800"/>
                        <a:ext cx="6334125" cy="5270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1" name="Object 7"/>
          <p:cNvGraphicFramePr>
            <a:graphicFrameLocks noChangeAspect="1"/>
          </p:cNvGraphicFramePr>
          <p:nvPr/>
        </p:nvGraphicFramePr>
        <p:xfrm>
          <a:off x="762000" y="914400"/>
          <a:ext cx="320992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77" name="Equation" r:id="rId3" imgW="34747200" imgH="6705600" progId="Equation.3">
                  <p:embed/>
                </p:oleObj>
              </mc:Choice>
              <mc:Fallback>
                <p:oleObj name="Equation" r:id="rId3" imgW="34747200" imgH="6705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914400"/>
                        <a:ext cx="3209925" cy="5810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2" name="Object 8"/>
          <p:cNvGraphicFramePr>
            <a:graphicFrameLocks noChangeAspect="1"/>
          </p:cNvGraphicFramePr>
          <p:nvPr/>
        </p:nvGraphicFramePr>
        <p:xfrm>
          <a:off x="685800" y="1905000"/>
          <a:ext cx="396875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78" name="Equation" r:id="rId5" imgW="42976800" imgH="10058400" progId="Equation.3">
                  <p:embed/>
                </p:oleObj>
              </mc:Choice>
              <mc:Fallback>
                <p:oleObj name="Equation" r:id="rId5" imgW="42976800" imgH="10058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905000"/>
                        <a:ext cx="3968750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3" name="Text Box 9"/>
          <p:cNvSpPr txBox="1">
            <a:spLocks noChangeArrowheads="1"/>
          </p:cNvSpPr>
          <p:nvPr/>
        </p:nvSpPr>
        <p:spPr bwMode="auto">
          <a:xfrm>
            <a:off x="5165725" y="2098675"/>
            <a:ext cx="125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指向</a:t>
            </a:r>
            <a:r>
              <a:rPr lang="en-US" altLang="zh-CN">
                <a:ea typeface="黑体" panose="02010609060101010101" pitchFamily="49" charset="-122"/>
              </a:rPr>
              <a:t>o</a:t>
            </a:r>
            <a:r>
              <a:rPr lang="zh-CN" altLang="en-US">
                <a:ea typeface="黑体" panose="02010609060101010101" pitchFamily="49" charset="-122"/>
              </a:rPr>
              <a:t>点</a:t>
            </a:r>
            <a:endParaRPr lang="zh-CN" altLang="en-US">
              <a:ea typeface="黑体" panose="02010609060101010101" pitchFamily="49" charset="-122"/>
            </a:endParaRPr>
          </a:p>
        </p:txBody>
      </p:sp>
      <p:graphicFrame>
        <p:nvGraphicFramePr>
          <p:cNvPr id="31754" name="Object 10"/>
          <p:cNvGraphicFramePr>
            <a:graphicFrameLocks noChangeAspect="1"/>
          </p:cNvGraphicFramePr>
          <p:nvPr/>
        </p:nvGraphicFramePr>
        <p:xfrm>
          <a:off x="685800" y="2819400"/>
          <a:ext cx="36591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79" name="Equation" r:id="rId7" imgW="39624000" imgH="6096000" progId="Equation.3">
                  <p:embed/>
                </p:oleObj>
              </mc:Choice>
              <mc:Fallback>
                <p:oleObj name="Equation" r:id="rId7" imgW="39624000" imgH="6096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819400"/>
                        <a:ext cx="3659188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6" name="Object 12"/>
          <p:cNvGraphicFramePr>
            <a:graphicFrameLocks noChangeAspect="1"/>
          </p:cNvGraphicFramePr>
          <p:nvPr/>
        </p:nvGraphicFramePr>
        <p:xfrm>
          <a:off x="6450013" y="3481388"/>
          <a:ext cx="2084387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80" name="Equation" r:id="rId9" imgW="22555200" imgH="5486400" progId="Equation.3">
                  <p:embed/>
                </p:oleObj>
              </mc:Choice>
              <mc:Fallback>
                <p:oleObj name="Equation" r:id="rId9" imgW="22555200" imgH="5486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0013" y="3481388"/>
                        <a:ext cx="2084387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7" name="Object 13"/>
          <p:cNvGraphicFramePr>
            <a:graphicFrameLocks noChangeAspect="1"/>
          </p:cNvGraphicFramePr>
          <p:nvPr/>
        </p:nvGraphicFramePr>
        <p:xfrm>
          <a:off x="609600" y="3962400"/>
          <a:ext cx="6646863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81" name="Equation" r:id="rId11" imgW="71932800" imgH="10058400" progId="Equation.3">
                  <p:embed/>
                </p:oleObj>
              </mc:Choice>
              <mc:Fallback>
                <p:oleObj name="Equation" r:id="rId11" imgW="71932800" imgH="100584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962400"/>
                        <a:ext cx="6646863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8" name="Object 14"/>
          <p:cNvGraphicFramePr>
            <a:graphicFrameLocks noChangeAspect="1"/>
          </p:cNvGraphicFramePr>
          <p:nvPr/>
        </p:nvGraphicFramePr>
        <p:xfrm>
          <a:off x="649288" y="4672013"/>
          <a:ext cx="7885112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82" name="Equation" r:id="rId13" imgW="85344000" imgH="11277600" progId="Equation.3">
                  <p:embed/>
                </p:oleObj>
              </mc:Choice>
              <mc:Fallback>
                <p:oleObj name="Equation" r:id="rId13" imgW="85344000" imgH="11277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88" y="4672013"/>
                        <a:ext cx="7885112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9" name="Object 15"/>
          <p:cNvGraphicFramePr>
            <a:graphicFrameLocks noChangeAspect="1"/>
          </p:cNvGraphicFramePr>
          <p:nvPr/>
        </p:nvGraphicFramePr>
        <p:xfrm>
          <a:off x="1508125" y="5565775"/>
          <a:ext cx="6392863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83" name="Equation" r:id="rId15" imgW="69189600" imgH="9448800" progId="Equation.3">
                  <p:embed/>
                </p:oleObj>
              </mc:Choice>
              <mc:Fallback>
                <p:oleObj name="Equation" r:id="rId15" imgW="69189600" imgH="94488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8125" y="5565775"/>
                        <a:ext cx="6392863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685800" y="3429000"/>
            <a:ext cx="5830054" cy="527050"/>
            <a:chOff x="685800" y="3429000"/>
            <a:chExt cx="5830054" cy="527050"/>
          </a:xfrm>
        </p:grpSpPr>
        <p:graphicFrame>
          <p:nvGraphicFramePr>
            <p:cNvPr id="31755" name="Object 11"/>
            <p:cNvGraphicFramePr>
              <a:graphicFrameLocks noChangeAspect="1"/>
            </p:cNvGraphicFramePr>
            <p:nvPr/>
          </p:nvGraphicFramePr>
          <p:xfrm>
            <a:off x="685800" y="3429000"/>
            <a:ext cx="5686425" cy="527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484" name="Equation" r:id="rId17" imgW="61569600" imgH="6096000" progId="Equation.3">
                    <p:embed/>
                  </p:oleObj>
                </mc:Choice>
                <mc:Fallback>
                  <p:oleObj name="Equation" r:id="rId17" imgW="61569600" imgH="60960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5800" y="3429000"/>
                          <a:ext cx="5686425" cy="527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文本框 1"/>
            <p:cNvSpPr txBox="1"/>
            <p:nvPr/>
          </p:nvSpPr>
          <p:spPr>
            <a:xfrm>
              <a:off x="6228596" y="3461692"/>
              <a:ext cx="2872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)</a:t>
              </a:r>
              <a:endParaRPr lang="zh-CN" altLang="en-US" dirty="0"/>
            </a:p>
          </p:txBody>
        </p: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8" name="Rectangle 28"/>
          <p:cNvSpPr>
            <a:spLocks noChangeArrowheads="1"/>
          </p:cNvSpPr>
          <p:nvPr/>
        </p:nvSpPr>
        <p:spPr bwMode="auto">
          <a:xfrm>
            <a:off x="145827" y="116632"/>
            <a:ext cx="8890669" cy="64154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6708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8618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528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R="0" lvl="0" defTabSz="914400" rtl="0" eaLnBrk="1" fontAlgn="base" latinLnBrk="0" hangingPunct="1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>
                <a:srgbClr val="000000"/>
              </a:buClr>
              <a:buSzPct val="90000"/>
              <a:defRPr/>
            </a:pPr>
            <a:r>
              <a:rPr lang="zh-CN" altLang="en-US" b="1" dirty="0">
                <a:solidFill>
                  <a:srgbClr val="FF0000"/>
                </a:solidFill>
                <a:ea typeface="黑体" panose="02010609060101010101" pitchFamily="49" charset="-122"/>
              </a:rPr>
              <a:t>讨论一：转动参考系选取</a:t>
            </a:r>
            <a:endParaRPr lang="en-US" altLang="zh-CN" b="1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R="0" lvl="0" defTabSz="914400" rtl="0" eaLnBrk="1" fontAlgn="base" latinLnBrk="0" hangingPunct="1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>
                <a:srgbClr val="000000"/>
              </a:buClr>
              <a:buSzPct val="90000"/>
              <a:defRPr/>
            </a:pPr>
            <a:r>
              <a:rPr lang="zh-CN" altLang="en-US" noProof="0" dirty="0">
                <a:ea typeface="黑体" panose="02010609060101010101" pitchFamily="49" charset="-122"/>
              </a:rPr>
              <a:t>实际应用中，转动参考系未必取刚体为参照物。取三个垂直轴组成的</a:t>
            </a:r>
            <a:r>
              <a:rPr lang="zh-CN" altLang="en-US" noProof="0" dirty="0">
                <a:solidFill>
                  <a:srgbClr val="0000FF"/>
                </a:solidFill>
                <a:ea typeface="黑体" panose="02010609060101010101" pitchFamily="49" charset="-122"/>
              </a:rPr>
              <a:t>坐标系框架</a:t>
            </a:r>
            <a:r>
              <a:rPr lang="zh-CN" altLang="en-US" noProof="0" dirty="0">
                <a:ea typeface="黑体" panose="02010609060101010101" pitchFamily="49" charset="-122"/>
              </a:rPr>
              <a:t>为</a:t>
            </a:r>
            <a:r>
              <a:rPr lang="zh-CN" altLang="en-US" noProof="0" dirty="0">
                <a:solidFill>
                  <a:srgbClr val="0000FF"/>
                </a:solidFill>
                <a:ea typeface="黑体" panose="02010609060101010101" pitchFamily="49" charset="-122"/>
              </a:rPr>
              <a:t>转动参考系</a:t>
            </a:r>
            <a:r>
              <a:rPr lang="zh-CN" altLang="en-US" noProof="0" dirty="0">
                <a:ea typeface="黑体" panose="02010609060101010101" pitchFamily="49" charset="-122"/>
              </a:rPr>
              <a:t>，研究问题会更方便</a:t>
            </a:r>
            <a:endParaRPr lang="en-US" altLang="zh-CN" noProof="0" dirty="0">
              <a:ea typeface="黑体" panose="02010609060101010101" pitchFamily="49" charset="-122"/>
            </a:endParaRPr>
          </a:p>
          <a:p>
            <a:pPr marR="0" lvl="0" defTabSz="914400" rtl="0" eaLnBrk="1" fontAlgn="base" latinLnBrk="0" hangingPunct="1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>
                <a:srgbClr val="000000"/>
              </a:buClr>
              <a:buSzPct val="90000"/>
              <a:defRPr/>
            </a:pPr>
            <a:endParaRPr lang="en-US" altLang="zh-CN" dirty="0">
              <a:ea typeface="黑体" panose="02010609060101010101" pitchFamily="49" charset="-122"/>
            </a:endParaRPr>
          </a:p>
          <a:p>
            <a:pPr marR="0" lvl="0" defTabSz="914400" rtl="0" eaLnBrk="1" fontAlgn="base" latinLnBrk="0" hangingPunct="1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>
                <a:srgbClr val="000000"/>
              </a:buClr>
              <a:buSzPct val="90000"/>
              <a:defRPr/>
            </a:pPr>
            <a:endParaRPr lang="en-US" altLang="zh-CN" noProof="0" dirty="0">
              <a:ea typeface="黑体" panose="02010609060101010101" pitchFamily="49" charset="-122"/>
            </a:endParaRPr>
          </a:p>
          <a:p>
            <a:pPr marR="0" lvl="0" defTabSz="914400" rtl="0" eaLnBrk="1" fontAlgn="base" latinLnBrk="0" hangingPunct="1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>
                <a:srgbClr val="000000"/>
              </a:buClr>
              <a:buSzPct val="90000"/>
              <a:defRPr/>
            </a:pPr>
            <a:endParaRPr lang="en-US" altLang="zh-CN" dirty="0">
              <a:ea typeface="黑体" panose="02010609060101010101" pitchFamily="49" charset="-122"/>
            </a:endParaRPr>
          </a:p>
          <a:p>
            <a:pPr marR="0" lvl="0" defTabSz="914400" rtl="0" eaLnBrk="1" fontAlgn="base" latinLnBrk="0" hangingPunct="1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>
                <a:srgbClr val="000000"/>
              </a:buClr>
              <a:buSzPct val="90000"/>
              <a:defRPr/>
            </a:pPr>
            <a:endParaRPr lang="en-US" altLang="zh-CN" dirty="0">
              <a:ea typeface="黑体" panose="02010609060101010101" pitchFamily="49" charset="-122"/>
            </a:endParaRPr>
          </a:p>
          <a:p>
            <a:pPr marR="0" lvl="0" defTabSz="914400" rtl="0" eaLnBrk="1" fontAlgn="base" latinLnBrk="0" hangingPunct="1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>
                <a:srgbClr val="000000"/>
              </a:buClr>
              <a:buSzPct val="90000"/>
              <a:defRPr/>
            </a:pPr>
            <a:endParaRPr lang="en-US" altLang="zh-CN" dirty="0">
              <a:ea typeface="黑体" panose="02010609060101010101" pitchFamily="49" charset="-122"/>
            </a:endParaRPr>
          </a:p>
          <a:p>
            <a:pPr marR="0" lvl="0" defTabSz="914400" rtl="0" eaLnBrk="1" fontAlgn="base" latinLnBrk="0" hangingPunct="1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>
                <a:srgbClr val="000000"/>
              </a:buClr>
              <a:buSzPct val="90000"/>
              <a:defRPr/>
            </a:pPr>
            <a:endParaRPr lang="en-US" altLang="zh-CN" dirty="0">
              <a:ea typeface="黑体" panose="02010609060101010101" pitchFamily="49" charset="-122"/>
            </a:endParaRPr>
          </a:p>
          <a:p>
            <a:pPr marR="0" lvl="0" defTabSz="914400" rtl="0" eaLnBrk="1" fontAlgn="base" latinLnBrk="0" hangingPunct="1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>
                <a:srgbClr val="000000"/>
              </a:buClr>
              <a:buSzPct val="90000"/>
              <a:defRPr/>
            </a:pPr>
            <a:endParaRPr lang="en-US" altLang="zh-CN" dirty="0">
              <a:ea typeface="黑体" panose="02010609060101010101" pitchFamily="49" charset="-122"/>
            </a:endParaRPr>
          </a:p>
          <a:p>
            <a:pPr marR="0" lvl="0" defTabSz="914400" rtl="0" eaLnBrk="1" fontAlgn="base" latinLnBrk="0" hangingPunct="1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>
                <a:srgbClr val="000000"/>
              </a:buClr>
              <a:buSzPct val="90000"/>
              <a:defRPr/>
            </a:pPr>
            <a:endParaRPr lang="en-US" altLang="zh-CN" noProof="0" dirty="0">
              <a:ea typeface="黑体" panose="02010609060101010101" pitchFamily="49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626" y="3625299"/>
            <a:ext cx="2057400" cy="1141334"/>
          </a:xfrm>
          <a:prstGeom prst="rect">
            <a:avLst/>
          </a:prstGeom>
        </p:spPr>
      </p:pic>
      <p:grpSp>
        <p:nvGrpSpPr>
          <p:cNvPr id="84" name="组合 83"/>
          <p:cNvGrpSpPr/>
          <p:nvPr/>
        </p:nvGrpSpPr>
        <p:grpSpPr>
          <a:xfrm>
            <a:off x="3138902" y="2710028"/>
            <a:ext cx="2057398" cy="1880817"/>
            <a:chOff x="6577419" y="2280846"/>
            <a:chExt cx="2057398" cy="1880817"/>
          </a:xfrm>
        </p:grpSpPr>
        <p:cxnSp>
          <p:nvCxnSpPr>
            <p:cNvPr id="23" name="直接箭头连接符 22"/>
            <p:cNvCxnSpPr/>
            <p:nvPr/>
          </p:nvCxnSpPr>
          <p:spPr>
            <a:xfrm flipV="1">
              <a:off x="7340899" y="3358788"/>
              <a:ext cx="532653" cy="80287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 bwMode="auto">
            <a:xfrm rot="2065894">
              <a:off x="7426776" y="3267072"/>
              <a:ext cx="852471" cy="221549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25" name="直接箭头连接符 24"/>
            <p:cNvCxnSpPr>
              <a:cxnSpLocks noChangeAspect="1"/>
            </p:cNvCxnSpPr>
            <p:nvPr/>
          </p:nvCxnSpPr>
          <p:spPr>
            <a:xfrm flipV="1">
              <a:off x="7866077" y="3014706"/>
              <a:ext cx="245027" cy="3693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>
              <a:endCxn id="7" idx="2"/>
            </p:cNvCxnSpPr>
            <p:nvPr/>
          </p:nvCxnSpPr>
          <p:spPr bwMode="auto">
            <a:xfrm flipH="1" flipV="1">
              <a:off x="6577419" y="3034616"/>
              <a:ext cx="766842" cy="112704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" name="椭圆 6"/>
            <p:cNvSpPr/>
            <p:nvPr/>
          </p:nvSpPr>
          <p:spPr>
            <a:xfrm>
              <a:off x="6577419" y="2860789"/>
              <a:ext cx="1533685" cy="347653"/>
            </a:xfrm>
            <a:prstGeom prst="ellipse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30" name="弧形 29"/>
            <p:cNvSpPr/>
            <p:nvPr/>
          </p:nvSpPr>
          <p:spPr bwMode="auto">
            <a:xfrm rot="2130522">
              <a:off x="7755776" y="3088430"/>
              <a:ext cx="473104" cy="175311"/>
            </a:xfrm>
            <a:prstGeom prst="arc">
              <a:avLst>
                <a:gd name="adj1" fmla="val 19023310"/>
                <a:gd name="adj2" fmla="val 13324210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对象 34"/>
                <p:cNvSpPr txBox="1"/>
                <p:nvPr/>
              </p:nvSpPr>
              <p:spPr bwMode="auto">
                <a:xfrm>
                  <a:off x="7516132" y="2280846"/>
                  <a:ext cx="465445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3" name="对象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16132" y="2280846"/>
                  <a:ext cx="465445" cy="461665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对象 34"/>
                <p:cNvSpPr txBox="1"/>
                <p:nvPr/>
              </p:nvSpPr>
              <p:spPr bwMode="auto">
                <a:xfrm>
                  <a:off x="8169372" y="2967335"/>
                  <a:ext cx="465445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4" name="对象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169372" y="2967335"/>
                  <a:ext cx="465445" cy="461665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/>
          <p:cNvGrpSpPr/>
          <p:nvPr/>
        </p:nvGrpSpPr>
        <p:grpSpPr>
          <a:xfrm>
            <a:off x="889372" y="2036062"/>
            <a:ext cx="1855624" cy="2730571"/>
            <a:chOff x="3077814" y="1540295"/>
            <a:chExt cx="1855624" cy="2730571"/>
          </a:xfrm>
        </p:grpSpPr>
        <p:cxnSp>
          <p:nvCxnSpPr>
            <p:cNvPr id="42" name="直接箭头连接符 41"/>
            <p:cNvCxnSpPr/>
            <p:nvPr/>
          </p:nvCxnSpPr>
          <p:spPr>
            <a:xfrm flipV="1">
              <a:off x="3550914" y="1797996"/>
              <a:ext cx="7658" cy="1820277"/>
            </a:xfrm>
            <a:prstGeom prst="straightConnector1">
              <a:avLst/>
            </a:prstGeom>
            <a:ln w="381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/>
            <p:nvPr/>
          </p:nvCxnSpPr>
          <p:spPr>
            <a:xfrm flipH="1">
              <a:off x="3077814" y="3628024"/>
              <a:ext cx="473103" cy="347653"/>
            </a:xfrm>
            <a:prstGeom prst="straightConnector1">
              <a:avLst/>
            </a:prstGeom>
            <a:ln w="381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/>
            <p:nvPr/>
          </p:nvCxnSpPr>
          <p:spPr>
            <a:xfrm flipV="1">
              <a:off x="3558574" y="3618274"/>
              <a:ext cx="1090761" cy="7658"/>
            </a:xfrm>
            <a:prstGeom prst="straightConnector1">
              <a:avLst/>
            </a:prstGeom>
            <a:ln w="381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对象 34"/>
                <p:cNvSpPr txBox="1"/>
                <p:nvPr/>
              </p:nvSpPr>
              <p:spPr bwMode="auto">
                <a:xfrm>
                  <a:off x="3077814" y="3809201"/>
                  <a:ext cx="465445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dirty="0">
                    <a:solidFill>
                      <a:srgbClr val="0000FF"/>
                    </a:solidFill>
                  </a:endParaRPr>
                </a:p>
              </p:txBody>
            </p:sp>
          </mc:Choice>
          <mc:Fallback>
            <p:sp>
              <p:nvSpPr>
                <p:cNvPr id="45" name="对象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77814" y="3809201"/>
                  <a:ext cx="465445" cy="461665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对象 34"/>
                <p:cNvSpPr txBox="1"/>
                <p:nvPr/>
              </p:nvSpPr>
              <p:spPr bwMode="auto">
                <a:xfrm>
                  <a:off x="4467993" y="3613836"/>
                  <a:ext cx="465445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dirty="0">
                    <a:solidFill>
                      <a:srgbClr val="0000FF"/>
                    </a:solidFill>
                  </a:endParaRPr>
                </a:p>
              </p:txBody>
            </p:sp>
          </mc:Choice>
          <mc:Fallback>
            <p:sp>
              <p:nvSpPr>
                <p:cNvPr id="46" name="对象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67993" y="3613836"/>
                  <a:ext cx="465445" cy="461665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对象 34"/>
                <p:cNvSpPr txBox="1"/>
                <p:nvPr/>
              </p:nvSpPr>
              <p:spPr bwMode="auto">
                <a:xfrm>
                  <a:off x="3195945" y="1540295"/>
                  <a:ext cx="465445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CN" altLang="en-US" dirty="0">
                    <a:solidFill>
                      <a:srgbClr val="0000FF"/>
                    </a:solidFill>
                  </a:endParaRPr>
                </a:p>
              </p:txBody>
            </p:sp>
          </mc:Choice>
          <mc:Fallback>
            <p:sp>
              <p:nvSpPr>
                <p:cNvPr id="47" name="对象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95945" y="1540295"/>
                  <a:ext cx="465445" cy="461665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弧形 47"/>
            <p:cNvSpPr/>
            <p:nvPr/>
          </p:nvSpPr>
          <p:spPr bwMode="auto">
            <a:xfrm>
              <a:off x="3321553" y="2081871"/>
              <a:ext cx="473104" cy="175311"/>
            </a:xfrm>
            <a:prstGeom prst="arc">
              <a:avLst>
                <a:gd name="adj1" fmla="val 19023310"/>
                <a:gd name="adj2" fmla="val 13324210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3419872" y="2492896"/>
            <a:ext cx="1855624" cy="2730571"/>
            <a:chOff x="3077814" y="1540295"/>
            <a:chExt cx="1855624" cy="2730571"/>
          </a:xfrm>
        </p:grpSpPr>
        <p:cxnSp>
          <p:nvCxnSpPr>
            <p:cNvPr id="51" name="直接箭头连接符 50"/>
            <p:cNvCxnSpPr/>
            <p:nvPr/>
          </p:nvCxnSpPr>
          <p:spPr>
            <a:xfrm flipV="1">
              <a:off x="3550914" y="1797996"/>
              <a:ext cx="7658" cy="1820277"/>
            </a:xfrm>
            <a:prstGeom prst="straightConnector1">
              <a:avLst/>
            </a:prstGeom>
            <a:ln w="381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/>
            <p:cNvCxnSpPr/>
            <p:nvPr/>
          </p:nvCxnSpPr>
          <p:spPr>
            <a:xfrm flipH="1">
              <a:off x="3077814" y="3628024"/>
              <a:ext cx="473103" cy="347653"/>
            </a:xfrm>
            <a:prstGeom prst="straightConnector1">
              <a:avLst/>
            </a:prstGeom>
            <a:ln w="381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/>
            <p:cNvCxnSpPr/>
            <p:nvPr/>
          </p:nvCxnSpPr>
          <p:spPr>
            <a:xfrm flipV="1">
              <a:off x="3558574" y="3618274"/>
              <a:ext cx="1090761" cy="7658"/>
            </a:xfrm>
            <a:prstGeom prst="straightConnector1">
              <a:avLst/>
            </a:prstGeom>
            <a:ln w="381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对象 34"/>
                <p:cNvSpPr txBox="1"/>
                <p:nvPr/>
              </p:nvSpPr>
              <p:spPr bwMode="auto">
                <a:xfrm>
                  <a:off x="3077814" y="3809201"/>
                  <a:ext cx="465445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dirty="0">
                    <a:solidFill>
                      <a:srgbClr val="0000FF"/>
                    </a:solidFill>
                  </a:endParaRPr>
                </a:p>
              </p:txBody>
            </p:sp>
          </mc:Choice>
          <mc:Fallback>
            <p:sp>
              <p:nvSpPr>
                <p:cNvPr id="54" name="对象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77814" y="3809201"/>
                  <a:ext cx="465445" cy="461665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对象 34"/>
                <p:cNvSpPr txBox="1"/>
                <p:nvPr/>
              </p:nvSpPr>
              <p:spPr bwMode="auto">
                <a:xfrm>
                  <a:off x="4467993" y="3613836"/>
                  <a:ext cx="465445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dirty="0">
                    <a:solidFill>
                      <a:srgbClr val="0000FF"/>
                    </a:solidFill>
                  </a:endParaRPr>
                </a:p>
              </p:txBody>
            </p:sp>
          </mc:Choice>
          <mc:Fallback>
            <p:sp>
              <p:nvSpPr>
                <p:cNvPr id="55" name="对象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67993" y="3613836"/>
                  <a:ext cx="465445" cy="461665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对象 34"/>
                <p:cNvSpPr txBox="1"/>
                <p:nvPr/>
              </p:nvSpPr>
              <p:spPr bwMode="auto">
                <a:xfrm>
                  <a:off x="3195945" y="1540295"/>
                  <a:ext cx="465445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CN" altLang="en-US" dirty="0">
                    <a:solidFill>
                      <a:srgbClr val="0000FF"/>
                    </a:solidFill>
                  </a:endParaRPr>
                </a:p>
              </p:txBody>
            </p:sp>
          </mc:Choice>
          <mc:Fallback>
            <p:sp>
              <p:nvSpPr>
                <p:cNvPr id="56" name="对象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95945" y="1540295"/>
                  <a:ext cx="465445" cy="461665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弧形 56"/>
            <p:cNvSpPr/>
            <p:nvPr/>
          </p:nvSpPr>
          <p:spPr bwMode="auto">
            <a:xfrm>
              <a:off x="3321553" y="2081871"/>
              <a:ext cx="473104" cy="175311"/>
            </a:xfrm>
            <a:prstGeom prst="arc">
              <a:avLst>
                <a:gd name="adj1" fmla="val 19023310"/>
                <a:gd name="adj2" fmla="val 13324210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5807716" y="2991840"/>
            <a:ext cx="2584967" cy="2369143"/>
            <a:chOff x="5303057" y="419447"/>
            <a:chExt cx="2584967" cy="2369143"/>
          </a:xfrm>
        </p:grpSpPr>
        <p:cxnSp>
          <p:nvCxnSpPr>
            <p:cNvPr id="59" name="直接箭头连接符 58"/>
            <p:cNvCxnSpPr/>
            <p:nvPr/>
          </p:nvCxnSpPr>
          <p:spPr>
            <a:xfrm flipV="1">
              <a:off x="6016025" y="419447"/>
              <a:ext cx="0" cy="16379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/>
            <p:cNvCxnSpPr/>
            <p:nvPr/>
          </p:nvCxnSpPr>
          <p:spPr>
            <a:xfrm rot="5400000" flipV="1">
              <a:off x="6952024" y="1132590"/>
              <a:ext cx="0" cy="1872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组合 60"/>
            <p:cNvGrpSpPr/>
            <p:nvPr/>
          </p:nvGrpSpPr>
          <p:grpSpPr>
            <a:xfrm>
              <a:off x="6016023" y="1221463"/>
              <a:ext cx="1729959" cy="855678"/>
              <a:chOff x="3699543" y="4231016"/>
              <a:chExt cx="1729959" cy="855678"/>
            </a:xfrm>
          </p:grpSpPr>
          <p:sp>
            <p:nvSpPr>
              <p:cNvPr id="73" name="椭圆 72"/>
              <p:cNvSpPr>
                <a:spLocks noChangeAspect="1"/>
              </p:cNvSpPr>
              <p:nvPr/>
            </p:nvSpPr>
            <p:spPr>
              <a:xfrm rot="-900000">
                <a:off x="5099187" y="4231016"/>
                <a:ext cx="330315" cy="855678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4" name="直接箭头连接符 73"/>
              <p:cNvCxnSpPr>
                <a:endCxn id="73" idx="0"/>
              </p:cNvCxnSpPr>
              <p:nvPr/>
            </p:nvCxnSpPr>
            <p:spPr>
              <a:xfrm flipV="1">
                <a:off x="3699543" y="4245594"/>
                <a:ext cx="1454069" cy="82652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箭头连接符 74"/>
              <p:cNvCxnSpPr>
                <a:endCxn id="73" idx="4"/>
              </p:cNvCxnSpPr>
              <p:nvPr/>
            </p:nvCxnSpPr>
            <p:spPr>
              <a:xfrm>
                <a:off x="3699543" y="5071685"/>
                <a:ext cx="1675535" cy="43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" name="弧形 61"/>
            <p:cNvSpPr>
              <a:spLocks noChangeAspect="1"/>
            </p:cNvSpPr>
            <p:nvPr/>
          </p:nvSpPr>
          <p:spPr>
            <a:xfrm rot="15366040" flipV="1">
              <a:off x="7294523" y="1544498"/>
              <a:ext cx="572604" cy="209605"/>
            </a:xfrm>
            <a:prstGeom prst="arc">
              <a:avLst>
                <a:gd name="adj1" fmla="val 18760939"/>
                <a:gd name="adj2" fmla="val 13201192"/>
              </a:avLst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弧形 62"/>
            <p:cNvSpPr>
              <a:spLocks noChangeAspect="1"/>
            </p:cNvSpPr>
            <p:nvPr/>
          </p:nvSpPr>
          <p:spPr>
            <a:xfrm rot="10800000" flipH="1" flipV="1">
              <a:off x="5794016" y="898097"/>
              <a:ext cx="458082" cy="167684"/>
            </a:xfrm>
            <a:prstGeom prst="arc">
              <a:avLst>
                <a:gd name="adj1" fmla="val 18760939"/>
                <a:gd name="adj2" fmla="val 13201192"/>
              </a:avLst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弧形 63"/>
            <p:cNvSpPr/>
            <p:nvPr/>
          </p:nvSpPr>
          <p:spPr>
            <a:xfrm>
              <a:off x="5303057" y="1348590"/>
              <a:ext cx="1440000" cy="1440000"/>
            </a:xfrm>
            <a:prstGeom prst="arc">
              <a:avLst>
                <a:gd name="adj1" fmla="val 19731167"/>
                <a:gd name="adj2" fmla="val 20666902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矩形 64"/>
                <p:cNvSpPr/>
                <p:nvPr/>
              </p:nvSpPr>
              <p:spPr>
                <a:xfrm>
                  <a:off x="6608265" y="1463124"/>
                  <a:ext cx="44723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𝛼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65" name="矩形 6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8265" y="1463124"/>
                  <a:ext cx="447237" cy="461665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矩形 65"/>
                <p:cNvSpPr/>
                <p:nvPr/>
              </p:nvSpPr>
              <p:spPr>
                <a:xfrm>
                  <a:off x="6233323" y="701955"/>
                  <a:ext cx="483146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𝜔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66" name="矩形 6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3323" y="701955"/>
                  <a:ext cx="483146" cy="461665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" name="矩形 66"/>
                <p:cNvSpPr/>
                <p:nvPr/>
              </p:nvSpPr>
              <p:spPr>
                <a:xfrm>
                  <a:off x="5598517" y="1669095"/>
                  <a:ext cx="46948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67" name="矩形 6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8517" y="1669095"/>
                  <a:ext cx="469487" cy="461665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矩形 67"/>
                <p:cNvSpPr/>
                <p:nvPr/>
              </p:nvSpPr>
              <p:spPr>
                <a:xfrm>
                  <a:off x="6976097" y="1676908"/>
                  <a:ext cx="44723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ℎ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68" name="矩形 6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6097" y="1676908"/>
                  <a:ext cx="447237" cy="461665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弧形 68"/>
            <p:cNvSpPr>
              <a:spLocks noChangeAspect="1"/>
            </p:cNvSpPr>
            <p:nvPr/>
          </p:nvSpPr>
          <p:spPr>
            <a:xfrm rot="15366040" flipV="1">
              <a:off x="6785891" y="1669636"/>
              <a:ext cx="546975" cy="222466"/>
            </a:xfrm>
            <a:prstGeom prst="arc">
              <a:avLst>
                <a:gd name="adj1" fmla="val 21596863"/>
                <a:gd name="adj2" fmla="val 10714237"/>
              </a:avLst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弧形 69"/>
            <p:cNvSpPr>
              <a:spLocks noChangeAspect="1"/>
            </p:cNvSpPr>
            <p:nvPr/>
          </p:nvSpPr>
          <p:spPr>
            <a:xfrm rot="15366040" flipV="1">
              <a:off x="6424989" y="1866873"/>
              <a:ext cx="273488" cy="111233"/>
            </a:xfrm>
            <a:prstGeom prst="arc">
              <a:avLst>
                <a:gd name="adj1" fmla="val 21596863"/>
                <a:gd name="adj2" fmla="val 10714237"/>
              </a:avLst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1" name="直接箭头连接符 70"/>
            <p:cNvCxnSpPr/>
            <p:nvPr/>
          </p:nvCxnSpPr>
          <p:spPr>
            <a:xfrm rot="4500000" flipV="1">
              <a:off x="6798424" y="1048946"/>
              <a:ext cx="0" cy="162000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矩形 71"/>
                <p:cNvSpPr/>
                <p:nvPr/>
              </p:nvSpPr>
              <p:spPr>
                <a:xfrm>
                  <a:off x="7211064" y="768346"/>
                  <a:ext cx="452175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𝐴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72" name="矩形 7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1064" y="768346"/>
                  <a:ext cx="452175" cy="461665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组合 75"/>
          <p:cNvGrpSpPr/>
          <p:nvPr/>
        </p:nvGrpSpPr>
        <p:grpSpPr>
          <a:xfrm>
            <a:off x="6053190" y="2553313"/>
            <a:ext cx="2720064" cy="2730571"/>
            <a:chOff x="3077814" y="1540295"/>
            <a:chExt cx="2720064" cy="2730571"/>
          </a:xfrm>
        </p:grpSpPr>
        <p:cxnSp>
          <p:nvCxnSpPr>
            <p:cNvPr id="77" name="直接箭头连接符 76"/>
            <p:cNvCxnSpPr/>
            <p:nvPr/>
          </p:nvCxnSpPr>
          <p:spPr>
            <a:xfrm flipV="1">
              <a:off x="3550914" y="1797996"/>
              <a:ext cx="7658" cy="1820277"/>
            </a:xfrm>
            <a:prstGeom prst="straightConnector1">
              <a:avLst/>
            </a:prstGeom>
            <a:ln w="381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/>
            <p:cNvCxnSpPr/>
            <p:nvPr/>
          </p:nvCxnSpPr>
          <p:spPr>
            <a:xfrm flipH="1">
              <a:off x="3077814" y="3628024"/>
              <a:ext cx="473103" cy="347653"/>
            </a:xfrm>
            <a:prstGeom prst="straightConnector1">
              <a:avLst/>
            </a:prstGeom>
            <a:ln w="381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箭头连接符 78"/>
            <p:cNvCxnSpPr/>
            <p:nvPr/>
          </p:nvCxnSpPr>
          <p:spPr>
            <a:xfrm>
              <a:off x="3558574" y="3625932"/>
              <a:ext cx="2239304" cy="1823"/>
            </a:xfrm>
            <a:prstGeom prst="straightConnector1">
              <a:avLst/>
            </a:prstGeom>
            <a:ln w="381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对象 34"/>
                <p:cNvSpPr txBox="1"/>
                <p:nvPr/>
              </p:nvSpPr>
              <p:spPr bwMode="auto">
                <a:xfrm>
                  <a:off x="3077814" y="3809201"/>
                  <a:ext cx="465445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dirty="0">
                    <a:solidFill>
                      <a:srgbClr val="0000FF"/>
                    </a:solidFill>
                  </a:endParaRPr>
                </a:p>
              </p:txBody>
            </p:sp>
          </mc:Choice>
          <mc:Fallback>
            <p:sp>
              <p:nvSpPr>
                <p:cNvPr id="80" name="对象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77814" y="3809201"/>
                  <a:ext cx="465445" cy="461665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" name="对象 34"/>
                <p:cNvSpPr txBox="1"/>
                <p:nvPr/>
              </p:nvSpPr>
              <p:spPr bwMode="auto">
                <a:xfrm>
                  <a:off x="5230449" y="3638349"/>
                  <a:ext cx="465445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dirty="0">
                    <a:solidFill>
                      <a:srgbClr val="0000FF"/>
                    </a:solidFill>
                  </a:endParaRPr>
                </a:p>
              </p:txBody>
            </p:sp>
          </mc:Choice>
          <mc:Fallback>
            <p:sp>
              <p:nvSpPr>
                <p:cNvPr id="81" name="对象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30449" y="3638349"/>
                  <a:ext cx="465445" cy="461665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对象 34"/>
                <p:cNvSpPr txBox="1"/>
                <p:nvPr/>
              </p:nvSpPr>
              <p:spPr bwMode="auto">
                <a:xfrm>
                  <a:off x="3195945" y="1540295"/>
                  <a:ext cx="465445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CN" altLang="en-US" dirty="0">
                    <a:solidFill>
                      <a:srgbClr val="0000FF"/>
                    </a:solidFill>
                  </a:endParaRPr>
                </a:p>
              </p:txBody>
            </p:sp>
          </mc:Choice>
          <mc:Fallback>
            <p:sp>
              <p:nvSpPr>
                <p:cNvPr id="82" name="对象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95945" y="1540295"/>
                  <a:ext cx="465445" cy="461665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5" name="文本框 84"/>
          <p:cNvSpPr txBox="1"/>
          <p:nvPr/>
        </p:nvSpPr>
        <p:spPr>
          <a:xfrm>
            <a:off x="1083533" y="5461916"/>
            <a:ext cx="72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3.30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6791591" y="5461916"/>
            <a:ext cx="72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3.32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3531334" y="5461916"/>
            <a:ext cx="72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3.31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268" name="Rectangle 28"/>
              <p:cNvSpPr>
                <a:spLocks noChangeArrowheads="1"/>
              </p:cNvSpPr>
              <p:nvPr/>
            </p:nvSpPr>
            <p:spPr bwMode="auto">
              <a:xfrm>
                <a:off x="145827" y="116632"/>
                <a:ext cx="8890669" cy="64029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6708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8618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528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rtl="0" eaLnBrk="1" fontAlgn="base" latinLnBrk="0" hangingPunct="1">
                  <a:lnSpc>
                    <a:spcPct val="125000"/>
                  </a:lnSpc>
                  <a:spcBef>
                    <a:spcPct val="10000"/>
                  </a:spcBef>
                  <a:spcAft>
                    <a:spcPct val="0"/>
                  </a:spcAft>
                  <a:buClr>
                    <a:srgbClr val="000000"/>
                  </a:buClr>
                  <a:buSzPct val="90000"/>
                  <a:buFontTx/>
                  <a:buNone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讨论二：动系原点与静系不重合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just" defTabSz="914400" rtl="0" eaLnBrk="1" fontAlgn="base" latinLnBrk="0" hangingPunct="1">
                  <a:lnSpc>
                    <a:spcPct val="125000"/>
                  </a:lnSpc>
                  <a:spcBef>
                    <a:spcPct val="10000"/>
                  </a:spcBef>
                  <a:spcAft>
                    <a:spcPct val="0"/>
                  </a:spcAft>
                  <a:buClr>
                    <a:srgbClr val="000000"/>
                  </a:buClr>
                  <a:buSzPct val="90000"/>
                  <a:buFontTx/>
                  <a:buNone/>
                  <a:defRPr/>
                </a:pP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若动系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𝑆</m:t>
                        </m:r>
                      </m:e>
                      <m:sup>
                        <m: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′</m:t>
                        </m:r>
                      </m:sup>
                    </m:sSup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原点</a:t>
                </a:r>
                <a14:m>
                  <m:oMath xmlns:m="http://schemas.openxmlformats.org/officeDocument/2006/math">
                    <m:r>
                      <a:rPr kumimoji="1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𝑂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与静系</a:t>
                </a:r>
                <a14:m>
                  <m:oMath xmlns:m="http://schemas.openxmlformats.org/officeDocument/2006/math">
                    <m:r>
                      <a:rPr kumimoji="1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𝑆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的原点不重合，并且动系角速度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accPr>
                      <m:e>
                        <m: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𝜔</m:t>
                        </m:r>
                      </m:e>
                    </m:acc>
                    <m:r>
                      <a:rPr kumimoji="1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≠</m:t>
                    </m:r>
                    <m:r>
                      <a:rPr kumimoji="1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0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，可以通过</a:t>
                </a: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两步变换</a:t>
                </a: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从静系</a:t>
                </a:r>
                <a14:m>
                  <m:oMath xmlns:m="http://schemas.openxmlformats.org/officeDocument/2006/math">
                    <m:r>
                      <a:rPr kumimoji="1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→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动系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just" defTabSz="914400" rtl="0" eaLnBrk="1" fontAlgn="base" latinLnBrk="0" hangingPunct="1">
                  <a:lnSpc>
                    <a:spcPct val="125000"/>
                  </a:lnSpc>
                  <a:spcBef>
                    <a:spcPct val="10000"/>
                  </a:spcBef>
                  <a:spcAft>
                    <a:spcPct val="0"/>
                  </a:spcAft>
                  <a:buClr>
                    <a:srgbClr val="000000"/>
                  </a:buClr>
                  <a:buSzPct val="90000"/>
                  <a:buFontTx/>
                  <a:buNone/>
                  <a:defRPr/>
                </a:pPr>
                <a:r>
                  <a:rPr lang="zh-CN" altLang="en-US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（</a:t>
                </a:r>
                <a:r>
                  <a:rPr lang="en-US" altLang="zh-CN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1</a:t>
                </a:r>
                <a:r>
                  <a:rPr lang="zh-CN" altLang="en-US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）从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𝑆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→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𝑆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′′ </m:t>
                        </m:r>
                      </m:sup>
                    </m:sSup>
                  </m:oMath>
                </a14:m>
                <a:r>
                  <a:rPr lang="zh-CN" altLang="en-US" i="0" dirty="0">
                    <a:solidFill>
                      <a:schemeClr val="tx1"/>
                    </a:solidFill>
                    <a:latin typeface="+mj-lt"/>
                    <a:ea typeface="黑体" panose="02010609060101010101" pitchFamily="49" charset="-122"/>
                  </a:rPr>
                  <a:t>的</a:t>
                </a: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平动变换</a:t>
                </a:r>
                <a:r>
                  <a:rPr lang="zh-CN" altLang="en-US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，变换后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𝑆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′′</m:t>
                        </m:r>
                      </m:sup>
                    </m:sSup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𝑆</m:t>
                        </m:r>
                      </m:e>
                      <m:sup>
                        <m:r>
                          <a:rPr kumimoji="1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′</m:t>
                        </m:r>
                      </m:sup>
                    </m:sSup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原点重合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just" defTabSz="914400" rtl="0" eaLnBrk="1" fontAlgn="base" latinLnBrk="0" hangingPunct="1">
                  <a:lnSpc>
                    <a:spcPct val="125000"/>
                  </a:lnSpc>
                  <a:spcBef>
                    <a:spcPct val="10000"/>
                  </a:spcBef>
                  <a:spcAft>
                    <a:spcPct val="0"/>
                  </a:spcAft>
                  <a:buClr>
                    <a:srgbClr val="000000"/>
                  </a:buClr>
                  <a:buSzPct val="90000"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𝑣</m:t>
                          </m:r>
                        </m:e>
                      </m:acc>
                      <m: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𝑂</m:t>
                          </m:r>
                        </m:sub>
                      </m:sSub>
                      <m: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+</m:t>
                      </m:r>
                      <m:sSup>
                        <m:sSupPr>
                          <m:ctrlP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′′</m:t>
                          </m:r>
                        </m:sup>
                      </m:sSup>
                    </m:oMath>
                  </m:oMathPara>
                </a14:m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just" defTabSz="914400" rtl="0" eaLnBrk="1" fontAlgn="base" latinLnBrk="0" hangingPunct="1">
                  <a:lnSpc>
                    <a:spcPct val="125000"/>
                  </a:lnSpc>
                  <a:spcBef>
                    <a:spcPct val="10000"/>
                  </a:spcBef>
                  <a:spcAft>
                    <a:spcPct val="0"/>
                  </a:spcAft>
                  <a:buClr>
                    <a:srgbClr val="000000"/>
                  </a:buClr>
                  <a:buSzPct val="90000"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𝑎</m:t>
                          </m:r>
                        </m:e>
                      </m:acc>
                      <m: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𝑂</m:t>
                          </m:r>
                        </m:sub>
                      </m:sSub>
                      <m: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+</m:t>
                      </m:r>
                      <m:sSup>
                        <m:sSupPr>
                          <m:ctrlP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𝑎</m:t>
                              </m:r>
                            </m:e>
                          </m:acc>
                        </m:e>
                        <m:sup>
                          <m: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′′</m:t>
                          </m:r>
                        </m:sup>
                      </m:sSup>
                    </m:oMath>
                  </m:oMathPara>
                </a14:m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just" defTabSz="914400" rtl="0" eaLnBrk="1" fontAlgn="base" latinLnBrk="0" hangingPunct="1">
                  <a:lnSpc>
                    <a:spcPct val="125000"/>
                  </a:lnSpc>
                  <a:spcBef>
                    <a:spcPct val="10000"/>
                  </a:spcBef>
                  <a:spcAft>
                    <a:spcPct val="0"/>
                  </a:spcAft>
                  <a:buClr>
                    <a:srgbClr val="000000"/>
                  </a:buClr>
                  <a:buSzPct val="90000"/>
                  <a:buFontTx/>
                  <a:buNone/>
                  <a:defRPr/>
                </a:pPr>
                <a:r>
                  <a:rPr lang="zh-CN" altLang="en-US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（</a:t>
                </a:r>
                <a:r>
                  <a:rPr lang="en-US" altLang="zh-CN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2</a:t>
                </a:r>
                <a:r>
                  <a:rPr lang="zh-CN" altLang="en-US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）从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𝑆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′′</m:t>
                        </m:r>
                      </m:sup>
                    </m:sSup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→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𝑆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的转动变换</a:t>
                </a:r>
                <a:endParaRPr lang="en-US" altLang="zh-CN" dirty="0">
                  <a:solidFill>
                    <a:schemeClr val="tx1"/>
                  </a:solidFill>
                  <a:ea typeface="黑体" panose="02010609060101010101" pitchFamily="49" charset="-122"/>
                </a:endParaRPr>
              </a:p>
              <a:p>
                <a:pPr marL="0" marR="0" lvl="0" indent="0" algn="just" defTabSz="914400" rtl="0" eaLnBrk="1" fontAlgn="base" latinLnBrk="0" hangingPunct="1">
                  <a:lnSpc>
                    <a:spcPct val="125000"/>
                  </a:lnSpc>
                  <a:spcBef>
                    <a:spcPct val="10000"/>
                  </a:spcBef>
                  <a:spcAft>
                    <a:spcPct val="0"/>
                  </a:spcAft>
                  <a:buClr>
                    <a:srgbClr val="000000"/>
                  </a:buClr>
                  <a:buSzPct val="90000"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′′</m:t>
                          </m:r>
                        </m:sup>
                      </m:sSup>
                      <m: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𝜔</m:t>
                          </m:r>
                        </m:e>
                      </m:acc>
                      <m: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×</m:t>
                      </m:r>
                      <m:sSup>
                        <m:sSupPr>
                          <m:ctrlPr>
                            <a:rPr kumimoji="1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𝑟</m:t>
                              </m:r>
                            </m:e>
                          </m:acc>
                        </m:e>
                        <m:sup>
                          <m:r>
                            <a:rPr kumimoji="1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lvl="0" algn="just" eaLnBrk="1" hangingPunct="1">
                  <a:lnSpc>
                    <a:spcPct val="125000"/>
                  </a:lnSpc>
                  <a:spcBef>
                    <a:spcPct val="10000"/>
                  </a:spcBef>
                  <a:buClr>
                    <a:srgbClr val="000000"/>
                  </a:buClr>
                  <a:buSzPct val="90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lang="en-US" altLang="zh-CN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𝜔</m:t>
                              </m:r>
                            </m:e>
                          </m:acc>
                        </m:e>
                      </m:acc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𝑟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𝑅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2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i="0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  <a:p>
                <a:pPr lvl="0" algn="just" eaLnBrk="1" hangingPunct="1">
                  <a:lnSpc>
                    <a:spcPct val="125000"/>
                  </a:lnSpc>
                  <a:spcBef>
                    <a:spcPct val="10000"/>
                  </a:spcBef>
                  <a:buClr>
                    <a:srgbClr val="000000"/>
                  </a:buClr>
                  <a:buSzPct val="90000"/>
                  <a:defRPr/>
                </a:pPr>
                <a:r>
                  <a:rPr lang="zh-CN" altLang="en-US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（</a:t>
                </a:r>
                <a:r>
                  <a:rPr lang="en-US" altLang="zh-CN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3</a:t>
                </a:r>
                <a:r>
                  <a:rPr lang="zh-CN" altLang="en-US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）综合以上，易得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𝑆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→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𝑆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′</m:t>
                        </m:r>
                      </m:sup>
                    </m:sSup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的参考系变换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just" defTabSz="914400" rtl="0" eaLnBrk="1" fontAlgn="base" latinLnBrk="0" hangingPunct="1">
                  <a:lnSpc>
                    <a:spcPct val="125000"/>
                  </a:lnSpc>
                  <a:spcBef>
                    <a:spcPct val="10000"/>
                  </a:spcBef>
                  <a:spcAft>
                    <a:spcPct val="0"/>
                  </a:spcAft>
                  <a:buClr>
                    <a:srgbClr val="000000"/>
                  </a:buClr>
                  <a:buSzPct val="90000"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𝑣</m:t>
                          </m:r>
                        </m:e>
                      </m:acc>
                      <m:r>
                        <a:rPr kumimoji="1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𝑂</m:t>
                          </m:r>
                        </m:sub>
                      </m:sSub>
                      <m: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+</m:t>
                      </m:r>
                      <m:sSup>
                        <m:sSupPr>
                          <m:ctrlPr>
                            <a:rPr kumimoji="1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kumimoji="1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𝜔</m:t>
                          </m:r>
                        </m:e>
                      </m:acc>
                      <m: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×</m:t>
                      </m:r>
                      <m:sSup>
                        <m:sSupPr>
                          <m:ctrlP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𝑟</m:t>
                              </m:r>
                            </m:e>
                          </m:acc>
                        </m:e>
                        <m:sup>
                          <m:r>
                            <a:rPr kumimoji="1" lang="en-US" altLang="zh-CN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just" defTabSz="914400" rtl="0" eaLnBrk="1" fontAlgn="base" latinLnBrk="0" hangingPunct="1">
                  <a:lnSpc>
                    <a:spcPct val="125000"/>
                  </a:lnSpc>
                  <a:spcBef>
                    <a:spcPct val="10000"/>
                  </a:spcBef>
                  <a:spcAft>
                    <a:spcPct val="0"/>
                  </a:spcAft>
                  <a:buClr>
                    <a:srgbClr val="000000"/>
                  </a:buClr>
                  <a:buSzPct val="90000"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𝑎</m:t>
                          </m:r>
                        </m:e>
                      </m:acc>
                      <m:r>
                        <a:rPr kumimoji="1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𝑂</m:t>
                          </m:r>
                        </m:sub>
                      </m:sSub>
                      <m:r>
                        <a:rPr kumimoji="1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+</m:t>
                      </m:r>
                      <m:sSup>
                        <m:sSupPr>
                          <m:ctrlPr>
                            <a:rPr kumimoji="1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𝑎</m:t>
                              </m:r>
                            </m:e>
                          </m:acc>
                        </m:e>
                        <m:sup>
                          <m:r>
                            <a:rPr kumimoji="1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kumimoji="1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𝜔</m:t>
                              </m:r>
                            </m:e>
                          </m:acc>
                        </m:e>
                      </m:acc>
                      <m:r>
                        <a:rPr kumimoji="1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×</m:t>
                      </m:r>
                      <m:sSup>
                        <m:sSupPr>
                          <m:ctrlP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𝑟</m:t>
                              </m:r>
                            </m:e>
                          </m:acc>
                        </m:e>
                        <m:sup>
                          <m: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−</m:t>
                      </m:r>
                      <m:sSup>
                        <m:sSupPr>
                          <m:ctrlPr>
                            <a:rPr kumimoji="1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𝜔</m:t>
                          </m:r>
                        </m:e>
                        <m:sup>
                          <m:r>
                            <a:rPr kumimoji="1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𝑅</m:t>
                              </m:r>
                            </m:e>
                          </m:acc>
                        </m:e>
                        <m:sup>
                          <m: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+</m:t>
                      </m:r>
                      <m:r>
                        <a:rPr kumimoji="1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2</m:t>
                      </m:r>
                      <m:acc>
                        <m:accPr>
                          <m:chr m:val="⃗"/>
                          <m:ctrlPr>
                            <a:rPr kumimoji="1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accPr>
                        <m:e>
                          <m:r>
                            <a:rPr kumimoji="1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𝜔</m:t>
                          </m:r>
                        </m:e>
                      </m:acc>
                      <m:r>
                        <a:rPr kumimoji="1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  <a:cs typeface="+mn-cs"/>
                        </a:rPr>
                        <m:t>×</m:t>
                      </m:r>
                      <m:sSup>
                        <m:sSupPr>
                          <m:ctrlPr>
                            <a:rPr kumimoji="1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kumimoji="1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+mn-cs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kumimoji="1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+mn-cs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just" defTabSz="914400" rtl="0" eaLnBrk="1" fontAlgn="base" latinLnBrk="0" hangingPunct="1">
                  <a:lnSpc>
                    <a:spcPct val="125000"/>
                  </a:lnSpc>
                  <a:spcBef>
                    <a:spcPct val="10000"/>
                  </a:spcBef>
                  <a:spcAft>
                    <a:spcPct val="0"/>
                  </a:spcAft>
                  <a:buClr>
                    <a:srgbClr val="000000"/>
                  </a:buClr>
                  <a:buSzPct val="90000"/>
                  <a:buFontTx/>
                  <a:buNone/>
                  <a:defRPr/>
                </a:pPr>
                <a:r>
                  <a:rPr lang="zh-CN" altLang="en-US" noProof="0" dirty="0">
                    <a:solidFill>
                      <a:srgbClr val="000000"/>
                    </a:solidFill>
                    <a:ea typeface="黑体" panose="02010609060101010101" pitchFamily="49" charset="-122"/>
                  </a:rPr>
                  <a:t>其中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kumimoji="1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1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𝑟</m:t>
                            </m:r>
                          </m:e>
                        </m:acc>
                      </m:e>
                      <m:sup>
                        <m: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′</m:t>
                        </m:r>
                      </m:sup>
                    </m:sSup>
                    <m:r>
                      <a:rPr kumimoji="1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=</m:t>
                    </m:r>
                    <m:acc>
                      <m:accPr>
                        <m:chr m:val="⃗"/>
                        <m:ctrlP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accPr>
                      <m:e>
                        <m: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𝑟</m:t>
                        </m:r>
                      </m:e>
                    </m:acc>
                    <m:r>
                      <a:rPr kumimoji="1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−</m:t>
                    </m:r>
                    <m:sSub>
                      <m:sSubPr>
                        <m:ctrlP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kumimoji="1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1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𝑂</m:t>
                        </m:r>
                      </m:sub>
                    </m:sSub>
                    <m:r>
                      <a:rPr kumimoji="1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,    −</m:t>
                    </m:r>
                    <m:sSup>
                      <m:sSupPr>
                        <m:ctrlP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𝜔</m:t>
                        </m:r>
                      </m:e>
                      <m:sup>
                        <m: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kumimoji="1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1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𝑅</m:t>
                            </m:r>
                          </m:e>
                        </m:acc>
                      </m:e>
                      <m:sup>
                        <m: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′</m:t>
                        </m:r>
                      </m:sup>
                    </m:sSup>
                    <m:r>
                      <a:rPr kumimoji="1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=</m:t>
                    </m:r>
                    <m:d>
                      <m:dPr>
                        <m:ctrlP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kumimoji="1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1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𝜔</m:t>
                            </m:r>
                          </m:e>
                        </m:acc>
                        <m: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⋅</m:t>
                        </m:r>
                        <m:sSup>
                          <m:sSupPr>
                            <m:ctrlPr>
                              <a:rPr kumimoji="1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kumimoji="1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1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+mn-cs"/>
                                  </a:rPr>
                                  <m:t>𝑟</m:t>
                                </m:r>
                              </m:e>
                            </m:acc>
                          </m:e>
                          <m:sup>
                            <m:r>
                              <a:rPr kumimoji="1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+mn-cs"/>
                              </a:rPr>
                              <m:t>′</m:t>
                            </m:r>
                          </m:sup>
                        </m:sSup>
                      </m:e>
                    </m:d>
                    <m:acc>
                      <m:accPr>
                        <m:chr m:val="⃗"/>
                        <m:ctrlP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accPr>
                      <m:e>
                        <m: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𝜔</m:t>
                        </m:r>
                      </m:e>
                    </m:acc>
                    <m:r>
                      <a:rPr kumimoji="1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 panose="02010609060101010101" pitchFamily="49" charset="-122"/>
                        <a:cs typeface="+mn-cs"/>
                      </a:rPr>
                      <m:t>−</m:t>
                    </m:r>
                    <m:sSup>
                      <m:sSupPr>
                        <m:ctrlP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𝜔</m:t>
                        </m:r>
                      </m:e>
                      <m:sup>
                        <m: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2</m:t>
                        </m:r>
                      </m:sup>
                    </m:sSup>
                    <m:acc>
                      <m:accPr>
                        <m:chr m:val="⃗"/>
                        <m:ctrlP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</m:ctrlPr>
                      </m:accPr>
                      <m:e>
                        <m: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cs"/>
                          </a:rPr>
                          <m:t>𝑟</m:t>
                        </m:r>
                      </m:e>
                    </m:acc>
                  </m:oMath>
                </a14:m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>
          <p:sp>
            <p:nvSpPr>
              <p:cNvPr id="10268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5827" y="116632"/>
                <a:ext cx="8890669" cy="6402907"/>
              </a:xfrm>
              <a:prstGeom prst="rect">
                <a:avLst/>
              </a:prstGeom>
              <a:blipFill rotWithShape="1">
                <a:blip r:embed="rId1"/>
                <a:stretch>
                  <a:fillRect l="-5" t="-7" r="5" b="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372D68D-3E4D-E140-BABB-1F7B81CFF020}" type="slidenum"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2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2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2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2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28"/>
              <p:cNvSpPr>
                <a:spLocks noChangeArrowheads="1"/>
              </p:cNvSpPr>
              <p:nvPr/>
            </p:nvSpPr>
            <p:spPr bwMode="auto">
              <a:xfrm>
                <a:off x="145827" y="116632"/>
                <a:ext cx="8890669" cy="655384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6708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8618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528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R="0" lvl="0" algn="ctr" defTabSz="914400" rtl="0" eaLnBrk="1" fontAlgn="base" latinLnBrk="0" hangingPunct="1">
                  <a:lnSpc>
                    <a:spcPct val="150000"/>
                  </a:lnSpc>
                  <a:spcBef>
                    <a:spcPct val="10000"/>
                  </a:spcBef>
                  <a:spcAft>
                    <a:spcPct val="0"/>
                  </a:spcAft>
                  <a:buClr>
                    <a:srgbClr val="000000"/>
                  </a:buClr>
                  <a:buSzPct val="90000"/>
                  <a:defRPr/>
                </a:pPr>
                <a:r>
                  <a:rPr lang="zh-CN" altLang="en-US" b="1" noProof="0" dirty="0">
                    <a:solidFill>
                      <a:srgbClr val="FF0000"/>
                    </a:solidFill>
                    <a:ea typeface="黑体" panose="02010609060101010101" pitchFamily="49" charset="-122"/>
                  </a:rPr>
                  <a:t>小结：转动参考系变换公式</a:t>
                </a:r>
                <a:endParaRPr lang="en-US" altLang="zh-CN" b="1" noProof="0" dirty="0">
                  <a:solidFill>
                    <a:srgbClr val="FF0000"/>
                  </a:solidFill>
                  <a:ea typeface="黑体" panose="02010609060101010101" pitchFamily="49" charset="-122"/>
                </a:endParaRPr>
              </a:p>
              <a:p>
                <a:pPr marL="342900" marR="0" lvl="0" indent="-342900" defTabSz="914400" rtl="0" eaLnBrk="1" fontAlgn="base" latinLnBrk="0" hangingPunct="1">
                  <a:lnSpc>
                    <a:spcPct val="150000"/>
                  </a:lnSpc>
                  <a:spcBef>
                    <a:spcPct val="10000"/>
                  </a:spcBef>
                  <a:spcAft>
                    <a:spcPct val="0"/>
                  </a:spcAft>
                  <a:buClr>
                    <a:srgbClr val="000000"/>
                  </a:buClr>
                  <a:buSzPct val="90000"/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dirty="0">
                    <a:ea typeface="黑体" panose="02010609060101010101" pitchFamily="49" charset="-122"/>
                  </a:rPr>
                  <a:t>动系与静系原点重合，则速度变换公式</a:t>
                </a:r>
                <a:endParaRPr lang="en-US" altLang="zh-CN" noProof="0" dirty="0">
                  <a:ea typeface="黑体" panose="02010609060101010101" pitchFamily="49" charset="-122"/>
                </a:endParaRPr>
              </a:p>
              <a:p>
                <a:pPr lvl="0" algn="ctr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rgbClr val="000000"/>
                  </a:buClr>
                  <a:buSzPct val="90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𝑣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lvl="0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rgbClr val="000000"/>
                  </a:buClr>
                  <a:buSzPct val="90000"/>
                  <a:defRPr/>
                </a:pPr>
                <a:r>
                  <a:rPr lang="zh-CN" altLang="en-US" dirty="0">
                    <a:ea typeface="黑体" panose="02010609060101010101" pitchFamily="49" charset="-122"/>
                  </a:rPr>
                  <a:t>加速度变换公式</a:t>
                </a:r>
                <a:endParaRPr lang="en-US" altLang="zh-CN" dirty="0">
                  <a:ea typeface="黑体" panose="02010609060101010101" pitchFamily="49" charset="-122"/>
                </a:endParaRPr>
              </a:p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𝜔</m:t>
                              </m:r>
                            </m:e>
                          </m:acc>
                        </m:e>
                      </m:acc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p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𝑅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2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dirty="0">
                  <a:ea typeface="黑体" panose="02010609060101010101" pitchFamily="49" charset="-122"/>
                </a:endParaRPr>
              </a:p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即</m:t>
                      </m:r>
                      <m:r>
                        <a:rPr lang="en-US" altLang="zh-CN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𝑎</m:t>
                          </m:r>
                        </m:e>
                      </m:acc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t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                                    </m:t>
                      </m:r>
                    </m:oMath>
                  </m:oMathPara>
                </a14:m>
                <a:endParaRPr lang="en-US" altLang="zh-CN" dirty="0">
                  <a:ea typeface="黑体" panose="02010609060101010101" pitchFamily="49" charset="-122"/>
                </a:endParaRPr>
              </a:p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:r>
                  <a:rPr lang="zh-CN" altLang="en-US" dirty="0">
                    <a:ea typeface="黑体" panose="02010609060101010101" pitchFamily="49" charset="-122"/>
                  </a:rPr>
                  <a:t>上式右方三项为</a:t>
                </a:r>
                <a:r>
                  <a:rPr lang="zh-CN" altLang="en-US" dirty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相对</a:t>
                </a:r>
                <a:r>
                  <a:rPr lang="zh-CN" altLang="en-US" dirty="0">
                    <a:ea typeface="黑体" panose="02010609060101010101" pitchFamily="49" charset="-122"/>
                  </a:rPr>
                  <a:t>、</a:t>
                </a:r>
                <a:r>
                  <a:rPr lang="zh-CN" altLang="en-US" dirty="0">
                    <a:solidFill>
                      <a:srgbClr val="FF0000"/>
                    </a:solidFill>
                    <a:ea typeface="黑体" panose="02010609060101010101" pitchFamily="49" charset="-122"/>
                  </a:rPr>
                  <a:t>牵连</a:t>
                </a:r>
                <a:r>
                  <a:rPr lang="zh-CN" altLang="en-US" dirty="0">
                    <a:ea typeface="黑体" panose="02010609060101010101" pitchFamily="49" charset="-122"/>
                  </a:rPr>
                  <a:t>、</a:t>
                </a:r>
                <a:r>
                  <a:rPr lang="zh-CN" altLang="en-US" dirty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科氏</a:t>
                </a:r>
                <a:r>
                  <a:rPr lang="zh-CN" altLang="en-US" dirty="0">
                    <a:ea typeface="黑体" panose="02010609060101010101" pitchFamily="49" charset="-122"/>
                  </a:rPr>
                  <a:t>加速度，其中</a:t>
                </a:r>
                <a:endParaRPr lang="en-US" altLang="zh-CN" b="0" i="1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  <a:p>
                <a:pPr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Math A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           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𝑅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≡</m:t>
                      </m:r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𝜔</m:t>
                              </m:r>
                            </m:e>
                          </m:acc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𝜔</m:t>
                              </m:r>
                            </m:e>
                          </m:acc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en-US" altLang="zh-CN" dirty="0">
                  <a:ea typeface="黑体" panose="02010609060101010101" pitchFamily="49" charset="-122"/>
                </a:endParaRPr>
              </a:p>
              <a:p>
                <a:pPr marL="342900" indent="-342900" algn="just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chemeClr val="tx1"/>
                  </a:buClr>
                  <a:buSzPct val="90000"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ea typeface="黑体" panose="02010609060101010101" pitchFamily="49" charset="-122"/>
                  </a:rPr>
                  <a:t>平面转动参考系，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𝑅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→</m:t>
                    </m:r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𝑟</m:t>
                        </m:r>
                      </m:e>
                    </m:acc>
                  </m:oMath>
                </a14:m>
                <a:endParaRPr lang="en-US" altLang="zh-CN" dirty="0">
                  <a:ea typeface="黑体" panose="02010609060101010101" pitchFamily="49" charset="-122"/>
                </a:endParaRPr>
              </a:p>
              <a:p>
                <a:pPr lvl="0" algn="ctr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rgbClr val="000000"/>
                  </a:buClr>
                  <a:buSzPct val="90000"/>
                  <a:defRPr/>
                </a:pPr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  <a:p>
                <a:pPr lvl="0" algn="ctr" eaLnBrk="1" hangingPunct="1">
                  <a:lnSpc>
                    <a:spcPct val="150000"/>
                  </a:lnSpc>
                  <a:spcBef>
                    <a:spcPct val="10000"/>
                  </a:spcBef>
                  <a:buClr>
                    <a:srgbClr val="000000"/>
                  </a:buClr>
                  <a:buSzPct val="90000"/>
                  <a:defRPr/>
                </a:pPr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>
          <p:sp>
            <p:nvSpPr>
              <p:cNvPr id="2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5827" y="116632"/>
                <a:ext cx="8890669" cy="6553845"/>
              </a:xfrm>
              <a:prstGeom prst="rect">
                <a:avLst/>
              </a:prstGeom>
              <a:blipFill rotWithShape="1">
                <a:blip r:embed="rId1"/>
                <a:stretch>
                  <a:fillRect l="-5" t="-7" r="5" b="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/>
          <p:cNvGrpSpPr/>
          <p:nvPr/>
        </p:nvGrpSpPr>
        <p:grpSpPr>
          <a:xfrm>
            <a:off x="6588224" y="4077072"/>
            <a:ext cx="2302110" cy="2392075"/>
            <a:chOff x="6588224" y="3966425"/>
            <a:chExt cx="2302110" cy="2392075"/>
          </a:xfrm>
        </p:grpSpPr>
        <p:sp>
          <p:nvSpPr>
            <p:cNvPr id="3" name="任意多边形: 形状 2"/>
            <p:cNvSpPr/>
            <p:nvPr/>
          </p:nvSpPr>
          <p:spPr>
            <a:xfrm>
              <a:off x="6588224" y="4509120"/>
              <a:ext cx="2302110" cy="1849380"/>
            </a:xfrm>
            <a:custGeom>
              <a:avLst/>
              <a:gdLst>
                <a:gd name="connsiteX0" fmla="*/ 40173 w 1632706"/>
                <a:gd name="connsiteY0" fmla="*/ 443975 h 1528362"/>
                <a:gd name="connsiteX1" fmla="*/ 1139058 w 1632706"/>
                <a:gd name="connsiteY1" fmla="*/ 34902 h 1528362"/>
                <a:gd name="connsiteX2" fmla="*/ 1604279 w 1632706"/>
                <a:gd name="connsiteY2" fmla="*/ 1286186 h 1528362"/>
                <a:gd name="connsiteX3" fmla="*/ 369037 w 1632706"/>
                <a:gd name="connsiteY3" fmla="*/ 1454628 h 1528362"/>
                <a:gd name="connsiteX4" fmla="*/ 40173 w 1632706"/>
                <a:gd name="connsiteY4" fmla="*/ 443975 h 152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32706" h="1528362">
                  <a:moveTo>
                    <a:pt x="40173" y="443975"/>
                  </a:moveTo>
                  <a:cubicBezTo>
                    <a:pt x="168510" y="207354"/>
                    <a:pt x="878374" y="-105466"/>
                    <a:pt x="1139058" y="34902"/>
                  </a:cubicBezTo>
                  <a:cubicBezTo>
                    <a:pt x="1399742" y="175270"/>
                    <a:pt x="1732616" y="1049565"/>
                    <a:pt x="1604279" y="1286186"/>
                  </a:cubicBezTo>
                  <a:cubicBezTo>
                    <a:pt x="1475942" y="1522807"/>
                    <a:pt x="628385" y="1600344"/>
                    <a:pt x="369037" y="1454628"/>
                  </a:cubicBezTo>
                  <a:cubicBezTo>
                    <a:pt x="109689" y="1308912"/>
                    <a:pt x="-88164" y="680596"/>
                    <a:pt x="40173" y="443975"/>
                  </a:cubicBezTo>
                  <a:close/>
                </a:path>
              </a:pathLst>
            </a:custGeom>
            <a:solidFill>
              <a:schemeClr val="bg1"/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" name="直接箭头连接符 3"/>
            <p:cNvCxnSpPr/>
            <p:nvPr/>
          </p:nvCxnSpPr>
          <p:spPr>
            <a:xfrm flipV="1">
              <a:off x="7063028" y="4197258"/>
              <a:ext cx="0" cy="193926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弧形 4"/>
            <p:cNvSpPr/>
            <p:nvPr/>
          </p:nvSpPr>
          <p:spPr>
            <a:xfrm>
              <a:off x="6738174" y="4427914"/>
              <a:ext cx="649706" cy="220579"/>
            </a:xfrm>
            <a:prstGeom prst="arc">
              <a:avLst>
                <a:gd name="adj1" fmla="val 20234095"/>
                <a:gd name="adj2" fmla="val 12612672"/>
              </a:avLst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矩形 5"/>
                <p:cNvSpPr/>
                <p:nvPr/>
              </p:nvSpPr>
              <p:spPr>
                <a:xfrm>
                  <a:off x="7063028" y="3966425"/>
                  <a:ext cx="483145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𝜔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" name="矩形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3028" y="3966425"/>
                  <a:ext cx="483145" cy="461665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直接箭头连接符 6"/>
            <p:cNvCxnSpPr/>
            <p:nvPr/>
          </p:nvCxnSpPr>
          <p:spPr>
            <a:xfrm flipV="1">
              <a:off x="7063028" y="5178139"/>
              <a:ext cx="1211179" cy="95838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/>
            <p:cNvCxnSpPr/>
            <p:nvPr/>
          </p:nvCxnSpPr>
          <p:spPr>
            <a:xfrm>
              <a:off x="7080017" y="5166891"/>
              <a:ext cx="1194190" cy="0"/>
            </a:xfrm>
            <a:prstGeom prst="straightConnector1">
              <a:avLst/>
            </a:prstGeom>
            <a:ln w="3810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矩形 8"/>
                <p:cNvSpPr/>
                <p:nvPr/>
              </p:nvSpPr>
              <p:spPr>
                <a:xfrm>
                  <a:off x="7592419" y="4702953"/>
                  <a:ext cx="458202" cy="5064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𝑅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9" name="矩形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2419" y="4702953"/>
                  <a:ext cx="458202" cy="506421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矩形 9"/>
                <p:cNvSpPr/>
                <p:nvPr/>
              </p:nvSpPr>
              <p:spPr>
                <a:xfrm>
                  <a:off x="7536179" y="5653554"/>
                  <a:ext cx="40620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𝑟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" name="矩形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6179" y="5653554"/>
                  <a:ext cx="406200" cy="461665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4"/>
          <p:cNvSpPr txBox="1">
            <a:spLocks noChangeArrowheads="1"/>
          </p:cNvSpPr>
          <p:nvPr/>
        </p:nvSpPr>
        <p:spPr bwMode="auto">
          <a:xfrm>
            <a:off x="179512" y="836613"/>
            <a:ext cx="8784976" cy="175432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600" dirty="0">
                <a:ea typeface="黑体" panose="02010609060101010101" pitchFamily="49" charset="-122"/>
              </a:rPr>
              <a:t>作业</a:t>
            </a:r>
            <a:endParaRPr lang="zh-CN" altLang="en-US" sz="3600" dirty="0">
              <a:ea typeface="黑体" panose="02010609060101010101" pitchFamily="49" charset="-122"/>
            </a:endParaRPr>
          </a:p>
          <a:p>
            <a:pPr algn="ctr" eaLnBrk="1" hangingPunct="1"/>
            <a:endParaRPr lang="en-US" altLang="zh-CN" sz="3600" dirty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algn="ctr" eaLnBrk="1" hangingPunct="1"/>
            <a:r>
              <a:rPr lang="en-US" altLang="zh-CN" sz="3600" dirty="0">
                <a:solidFill>
                  <a:srgbClr val="0000FF"/>
                </a:solidFill>
                <a:ea typeface="黑体" panose="02010609060101010101" pitchFamily="49" charset="-122"/>
              </a:rPr>
              <a:t>4.1,  4.2,  4.3</a:t>
            </a:r>
            <a:endParaRPr lang="zh-CN" altLang="en-US" sz="3600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72D68D-3E4D-E140-BABB-1F7B81CFF02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7524" y="931979"/>
            <a:ext cx="8568952" cy="554574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伟人的话：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“蛇，看起来十分可怕，但印度人耍蛇，得心应手，关键在于真正谦虚地摸到事物的客观规律，任何工作都可以做好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!”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本课程亦如是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谦虚地摸到事物的客观规律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如何做到呢？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“无论何人要认识什么事物，除了同那个事物接触，即生活于（实践于）那个事物的环境中，是没有法子解决的。”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同那个事物接触，生活于那个事物的环境中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听课、复习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ppt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、做题、思考总结等等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372D68D-3E4D-E140-BABB-1F7B81CFF020}" type="slidenum">
              <a:rPr kumimoji="1" lang="en-US" altLang="zh-CN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5135</Words>
  <Application>WPS 演示</Application>
  <PresentationFormat>全屏显示(4:3)</PresentationFormat>
  <Paragraphs>397</Paragraphs>
  <Slides>30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44</vt:i4>
      </vt:variant>
      <vt:variant>
        <vt:lpstr>幻灯片标题</vt:lpstr>
      </vt:variant>
      <vt:variant>
        <vt:i4>30</vt:i4>
      </vt:variant>
    </vt:vector>
  </HeadingPairs>
  <TitlesOfParts>
    <vt:vector size="92" baseType="lpstr">
      <vt:lpstr>Arial</vt:lpstr>
      <vt:lpstr>宋体</vt:lpstr>
      <vt:lpstr>Wingdings</vt:lpstr>
      <vt:lpstr>Times New Roman</vt:lpstr>
      <vt:lpstr>楷体_GB2312</vt:lpstr>
      <vt:lpstr>新宋体</vt:lpstr>
      <vt:lpstr>黑体</vt:lpstr>
      <vt:lpstr>Calibri</vt:lpstr>
      <vt:lpstr>Cambria Math</vt:lpstr>
      <vt:lpstr>Math A</vt:lpstr>
      <vt:lpstr>Segoe Print</vt:lpstr>
      <vt:lpstr>Math C</vt:lpstr>
      <vt:lpstr>System</vt:lpstr>
      <vt:lpstr>微软雅黑</vt:lpstr>
      <vt:lpstr>Arial Unicode MS</vt:lpstr>
      <vt:lpstr>Symbol</vt:lpstr>
      <vt:lpstr>MT Extra</vt:lpstr>
      <vt:lpstr>默认设计模板</vt:lpstr>
      <vt:lpstr>Equation.3</vt:lpstr>
      <vt:lpstr>Equation.3</vt:lpstr>
      <vt:lpstr>Equation.3</vt:lpstr>
      <vt:lpstr>Equation.3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Paint.Picture</vt:lpstr>
      <vt:lpstr>Paint.Picture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songyk</dc:creator>
  <cp:lastModifiedBy>且听风吟</cp:lastModifiedBy>
  <cp:revision>190</cp:revision>
  <dcterms:created xsi:type="dcterms:W3CDTF">2113-01-01T00:00:00Z</dcterms:created>
  <dcterms:modified xsi:type="dcterms:W3CDTF">2026-01-07T01:19:27Z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08550BD5DAC04B7DB34ECBC665CF4593_12</vt:lpwstr>
  </property>
</Properties>
</file>